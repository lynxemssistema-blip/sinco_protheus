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731520"/>
            <a:ext cx="9997135" cy="5303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645920" y="1097280"/>
            <a:ext cx="4572000" cy="365760"/>
          </a:xfrm>
          <a:prstGeom prst="roundRect">
            <a:avLst/>
          </a:prstGeom>
          <a:solidFill>
            <a:srgbClr val="ECFDF5"/>
          </a:solidFill>
          <a:ln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956A"/>
                </a:solidFill>
              </a:defRPr>
            </a:pPr>
            <a:r>
              <a:t>PROPOSTA TÉCNICO-COMERCIAL • REV 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645920"/>
            <a:ext cx="8686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200" b="1">
                <a:solidFill>
                  <a:srgbClr val="254438"/>
                </a:solidFill>
              </a:defRPr>
            </a:pPr>
            <a:r>
              <a:t>Implementação do Ecossistema</a:t>
            </a:r>
            <a:br/>
            <a:r>
              <a:t>Sinco-Protheus</a:t>
            </a:r>
          </a:p>
          <a:p>
            <a:pPr>
              <a:spcAft>
                <a:spcPts val="1800"/>
              </a:spcAft>
              <a:defRPr sz="1300">
                <a:solidFill>
                  <a:srgbClr val="64748B"/>
                </a:solidFill>
              </a:defRPr>
            </a:pPr>
            <a:r>
              <a:t>Digitalização de ponta a ponta da operação de campo, chão de fábrica, SGQ (ISO 9001) e SST para a Irricom.</a:t>
            </a:r>
          </a:p>
          <a:p>
            <a:pPr>
              <a:spcAft>
                <a:spcPts val="1200"/>
              </a:spcAft>
              <a:defRPr sz="950" b="1">
                <a:solidFill>
                  <a:srgbClr val="10956A"/>
                </a:solidFill>
              </a:defRPr>
            </a:pPr>
            <a:r>
              <a:t>PILARES COBERTOS:  SST Industrial • SGQ &amp; Data Book • Chão de Fábrica • RDO Campo • Solicitações • Protheus ERP</a:t>
            </a:r>
          </a:p>
          <a:p>
            <a:pPr>
              <a:defRPr sz="1050" b="1">
                <a:solidFill>
                  <a:srgbClr val="1E2925"/>
                </a:solidFill>
              </a:defRPr>
            </a:pPr>
            <a:r>
              <a:t>Cliente: IRRICOM (Engenharia, Mineração, Montagem Eletromecânica &amp; Irrigação)   |   Ambiente: https://irricom.lynxems.com.br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Proposta Técnico-Comercial • PROP-2026-001 (Rev 00) • Irricom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</a:defRPr>
            </a:pPr>
            <a:r>
              <a:t>Página 1 de 13 | Confidencial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66928"/>
            <a:ext cx="219456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956A"/>
                </a:solidFill>
              </a:defRPr>
            </a:pPr>
            <a:r>
              <a:t>CONTEXTO CORPORATIVO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457200"/>
            <a:ext cx="6035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25"/>
                </a:solidFill>
              </a:defRPr>
            </a:pPr>
            <a:r>
              <a:t>A Operação da Irricom &amp; Alinhamento Estratégico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Diagnóstico e oportunidades identificadas para o ecossistema Sinco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48640"/>
            <a:ext cx="1645920" cy="347472"/>
          </a:xfrm>
          <a:prstGeom prst="roundRect">
            <a:avLst/>
          </a:prstGeom>
          <a:solidFill>
            <a:srgbClr val="25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9F8F3"/>
                </a:solidFill>
              </a:defRPr>
            </a:pPr>
            <a:r>
              <a:t>LYNX EMS • SINCO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375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PERFIL DA EMPRESA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Cenário Operacional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Atuação consolidada no segmento de Engenharia, Mineração, Montagem Eletromecânica &amp; Irrigação.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Exigência de precisão técnica e pontualidade na entrega.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Equipes alocadas em múltiplos postos de trabalho e obras.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Demanda por comunicação ágil e sem ruídos entre canteiros e matriz.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375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OPORTUNIDADES DE MELHORIA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Desafios de Governança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Eliminação definitiva de controles manuais e planilhas paralelas.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Conformidade rigorosa com normas de segurança do trabalho (SST).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Atendimento contínuo aos requisitos da certificação ISO 9001.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Acesso à informação em tempo real para tomada de decisão ágil.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375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PARCERIA LYNX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Objetivo da Solução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Implantação sob medida do Sinco-Protheus para a Irricom.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Mobilidade real para apontamentos de campo e chão de fábrica.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Rastreabilidade de ponta a ponta na nuvem.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Infraestrutura 100% gerenciada pela Lynx no modelo SaaS.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Proposta Técnico-Comercial • PROP-2026-001 (Rev 00) • Irricom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</a:defRPr>
            </a:pPr>
            <a:r>
              <a:t>Página 2 de 13 | Confidencial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66928"/>
            <a:ext cx="219456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956A"/>
                </a:solidFill>
              </a:defRPr>
            </a:pPr>
            <a:r>
              <a:t>TECNOLOGIA SINCO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457200"/>
            <a:ext cx="6035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25"/>
                </a:solidFill>
              </a:defRPr>
            </a:pPr>
            <a:r>
              <a:t>O Que é o Ecossistema Sinco-Protheus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A inteligência operacional e mobilidade que faltava ao seu ERP tradicional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48640"/>
            <a:ext cx="1645920" cy="347472"/>
          </a:xfrm>
          <a:prstGeom prst="roundRect">
            <a:avLst/>
          </a:prstGeom>
          <a:solidFill>
            <a:srgbClr val="25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9F8F3"/>
                </a:solidFill>
              </a:defRPr>
            </a:pPr>
            <a:r>
              <a:t>LYNX EMS • SINCO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5146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CAMADA 1 • CAMPO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PWA Mobile de Campo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Interface tátil pensada para tablets e smartphones dos operadores.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Apontamentos rápidos de diários de obra e requisições sem burocracia.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Modo offline híbrido com sincronização automática.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Operação simplificada para operadores e encarregados.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71600"/>
            <a:ext cx="25146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CAMADA 2 • GESTÃO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Cockpit Web Matriz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Central de comando para gerentes, engenheiros e diretoria.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Acompanhamento em tempo real do avanço físico e pendências.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Dashboards de produtividade fabril, SST e qualidade.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Relatórios executivos e gráficos consolidados.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25146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CAMADA 3 • ERP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Conexão Protheus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Barramento nativo e bidirecional com o Protheus.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Aproveitamento integral de cadastros de OPs, clientes e produtos.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Eliminação de redigitação de informações.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Sem necessidade de customizações invasivas no ERP.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371600"/>
            <a:ext cx="25146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CAMADA 4 • CLOUD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Segurança &amp; Auditoria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Controle granular de acessos por perfil de usuário.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Trilha de auditoria completa em todas as operações.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Criptografia SSL ponta a ponta e redundância.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Conformidade com normas de governança corporativa.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Proposta Técnico-Comercial • PROP-2026-001 (Rev 00) • Irricom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</a:defRPr>
            </a:pPr>
            <a:r>
              <a:t>Página 3 de 13 | Confidencial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66928"/>
            <a:ext cx="219456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956A"/>
                </a:solidFill>
              </a:defRPr>
            </a:pPr>
            <a:r>
              <a:t>MÓDULO OPERACIONAL • SST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457200"/>
            <a:ext cx="6035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25"/>
                </a:solidFill>
              </a:defRPr>
            </a:pPr>
            <a:r>
              <a:t>Módulo SST Industrial: Gestão Digital de Compliance e Risco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Garantindo compliance total em áreas industriais e atendimento rigoroso a normas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48640"/>
            <a:ext cx="1645920" cy="347472"/>
          </a:xfrm>
          <a:prstGeom prst="roundRect">
            <a:avLst/>
          </a:prstGeom>
          <a:solidFill>
            <a:srgbClr val="25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9F8F3"/>
                </a:solidFill>
              </a:defRPr>
            </a:pPr>
            <a:r>
              <a:t>LYNX EMS • SINCO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DDS DIGITAL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DDS Digital &amp; Assinatura na Tela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Diálogo Diário de Segurança preenchido pelo celular do encarregado.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Assinatura digital na tela e captura fotográfica do time reunido.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Eliminação total de fichas de presença em papel e extravios.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PERMISSÃO DE TRABALHO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APR &amp; Permissão de Trabalho (PT / PET)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Liberação digital para atividades críticas (NR-35 altura, NR-10 elétrica, NR-33 confinamento).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Validação obrigatória de pré-requisitos antes de liberar a frente de serviço.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Histórico digital auditável para auditorias de segurança e clientes contratantes.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CHECKLISTS PRÉ-OPERACIONAIS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Checklists com Fotos Obrigatórias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Vistorias pré-operacionais de caminhões munck, guindastes, compressores e ferramentas.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Registro fotográfico obrigatório de inconformidades e bloqueio de máquinas.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Comprovação jurídica imediata em caso de fiscalização.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79476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GOVERNANÇA DE SST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Gestão de NRs, ASOs &amp; Indicador HHT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Alertas preventivos com 30 dias de antecedência para reciclagens de NRs e ASOs.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Registro instantâneo de quase-acidentes e condições inseguras.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Cálculo automático de Horas-Homem Trabalhadas (HHT) e Taxa de Gravidade.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Proposta Técnico-Comercial • PROP-2026-001 (Rev 00) • Irricom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</a:defRPr>
            </a:pPr>
            <a:r>
              <a:t>Página 4 de 13 | Confidencial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66928"/>
            <a:ext cx="219456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956A"/>
                </a:solidFill>
              </a:defRPr>
            </a:pPr>
            <a:r>
              <a:t>MÓDULO OPERACIONAL • SGQ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457200"/>
            <a:ext cx="6035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25"/>
                </a:solidFill>
              </a:defRPr>
            </a:pPr>
            <a:r>
              <a:t>Módulo SGQ: Suporte à ISO 9001 e Rastreabilidade Total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Digitalização de inspeções de qualidade e compilação de Data Books para clientes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48640"/>
            <a:ext cx="1645920" cy="347472"/>
          </a:xfrm>
          <a:prstGeom prst="roundRect">
            <a:avLst/>
          </a:prstGeom>
          <a:solidFill>
            <a:srgbClr val="25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9F8F3"/>
                </a:solidFill>
              </a:defRPr>
            </a:pPr>
            <a:r>
              <a:t>LYNX EMS • SINCO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INSPEÇÕES DIGITAIS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FIP e FIQ Digitais no Posto de Trabalho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Fichas de Inspeção de Processo e Qualidade com critérios e tolerâncias dimensionais.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Ensaios não destrutivos (líquido penetrante, visual de solda) com evidência fotográfica.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Liberação formal pelo inspetor antes do avanço para a próxima etapa produtiva.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TRATATIVA DE RNCS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Gestão de RNCs com 5W2H e Ishikawa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Abertura ágil de Não Conformidades na fábrica ou na obra de montagem.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Análise de causa-raiz estruturada (Espinha de Peixe / Ishikawa).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Plano de ação corretivo com metodologia 5W2H, responsáveis e prazos.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RASTREABILIDADE UNITÁRIA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Rastreabilidade por QR Code &amp; Certificados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Identificação unitária das peças e conjuntos soldados via etiqueta QR Code resistente.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Vinculação direta com o certificado de corrida do aço da usina siderúrgica.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Rastreio do soldador qualificado responsável por cada junta soldada.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79476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DATA BOOK AUTOMATIZADO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Calibração &amp; Data Book em 1 Clique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Controle metrológico de paquímetros, torquímetros e manômetros com alertas de aferição.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Emissão automatizada do Data Book completo da obra em 1 clique.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Atendimento imediato e sem atrasos para grandes mineradoras e indústrias.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Proposta Técnico-Comercial • PROP-2026-001 (Rev 00) • Irricom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</a:defRPr>
            </a:pPr>
            <a:r>
              <a:t>Página 5 de 13 | Confidencial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66928"/>
            <a:ext cx="219456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956A"/>
                </a:solidFill>
              </a:defRPr>
            </a:pPr>
            <a:r>
              <a:t>MÓDULO OPERACIONAL • FÁBRICA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457200"/>
            <a:ext cx="6035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25"/>
                </a:solidFill>
              </a:defRPr>
            </a:pPr>
            <a:r>
              <a:t>Módulo Gestão Fabril: Chão de Fábrica e PCP em Tempo Real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Terminais industriais touch nos postos produtivos e sincronização com OPs do Protheus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48640"/>
            <a:ext cx="1645920" cy="347472"/>
          </a:xfrm>
          <a:prstGeom prst="roundRect">
            <a:avLst/>
          </a:prstGeom>
          <a:solidFill>
            <a:srgbClr val="25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9F8F3"/>
                </a:solidFill>
              </a:defRPr>
            </a:pPr>
            <a:r>
              <a:t>LYNX EMS • SINCO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CHÃO DE FÁBRICA TOUCH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Apontamento Operacional Touch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Telas industriais touch nos centros de corte, dobra, solda, pintura e montagem.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Início, pausa e conclusão de operações via leitor de código de barras das OPs.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Eliminação de fichas de produção em papel e atrasos de digitação.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PRODUTIVIDADE FABRIL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Tempo Padrão vs. Tempo Real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Comparativo automático entre o tempo previsto na engenharia e o tempo real apontado.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Aferição da eficiência operacional e OEE por operador, equipe e posto.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Apuração precisa do custo real de fabricação de cada estrutura.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9476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KANBAN DE PRODUÇÃO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Esteira Produtiva Visual (Kanban Fabril)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Visibilidade em tempo real das OPs: Matéria-Prima, Fabricação, SGQ e Liberado.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Alertas automáticos para o PCP sobre gargalos em postos críticos.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Previsão confiável de datas de entrega para faturamento.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794760"/>
            <a:ext cx="5212080" cy="2240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EXPEDIÇÃO &amp; CUSTOS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Romaneio de Expedição &amp; Gestão de Refugo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Conferência cega por leitor óptico na expedição: zero itens faltantes no embarque.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Apontamento e quantificação de perdas metálicas, sucatas e retrabalho.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Garantia de que nada sai da fábrica para a obra sem estar inspecionado pelo SGQ.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Proposta Técnico-Comercial • PROP-2026-001 (Rev 00) • Irricom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</a:defRPr>
            </a:pPr>
            <a:r>
              <a:t>Página 6 de 13 | Confidencial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66928"/>
            <a:ext cx="219456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956A"/>
                </a:solidFill>
              </a:defRPr>
            </a:pPr>
            <a:r>
              <a:t>MÓDULO OPERACIONAL • CAMPO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457200"/>
            <a:ext cx="6035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25"/>
                </a:solidFill>
              </a:defRPr>
            </a:pPr>
            <a:r>
              <a:t>Gestão de Campo (RDO Digital) &amp; Solicitações Canteiro-Matriz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Controle de canteiros remotos, segurança jurídica contratual e logística ágil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48640"/>
            <a:ext cx="1645920" cy="347472"/>
          </a:xfrm>
          <a:prstGeom prst="roundRect">
            <a:avLst/>
          </a:prstGeom>
          <a:solidFill>
            <a:srgbClr val="25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9F8F3"/>
                </a:solidFill>
              </a:defRPr>
            </a:pPr>
            <a:r>
              <a:t>LYNX EMS • SINCO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CANTEIRO DE OBRAS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Gestão de Campo &amp; RDO Digital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Diário de Obra (RDO) 100% Digital preenchido direto no celular na frente de serviço.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Captura automática de clima (sol, chuva) e registro de efetivo presente por função.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Avanço Físico Ponderado (% executado) com registro fotográfico georreferenciado.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Relatório Formal de Paralisações por chuvas ou terceiros (essencial para pleitos/claims).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Modo Offline Híbrido: preenchimento completo sem internet e sincronização automática.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Painel geográfico de canteiros para acompanhamento em tempo real pela diretoria.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CANAL OFICIAL CANTEIRO-MATRIZ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Solicitações de Campo Canteiro ↔ Matriz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Canal digital oficial para requisição de peças, consumíveis, EPIs e ferramentas.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Eliminação definitiva de pedidos informais perdidos em mensagens de WhatsApp.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Alçadas inteligentes de aprovação (Encarregado da Obra -&gt; Coordenador -&gt; Suprimentos).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Timeline logística visual: Solicitado, Em Cotação, Em Separação, Despachado e Entregue.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Comprovante digital de recebimento na obra com foto e assinatura do recebedor.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Centralização de pedidos evitando compras em duplicidade e custos desnecessários.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Proposta Técnico-Comercial • PROP-2026-001 (Rev 00) • Irricom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</a:defRPr>
            </a:pPr>
            <a:r>
              <a:t>Página 7 de 13 | Confidencial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66928"/>
            <a:ext cx="219456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956A"/>
                </a:solidFill>
              </a:defRPr>
            </a:pPr>
            <a:r>
              <a:t>ROADMAP • FASE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457200"/>
            <a:ext cx="6035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25"/>
                </a:solidFill>
              </a:defRPr>
            </a:pPr>
            <a:r>
              <a:t>Roadmap de Expansão (Módulos Futuros Pós-MVP)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Evolução planejada do ecossistema após a consolidação da Fase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48640"/>
            <a:ext cx="1645920" cy="347472"/>
          </a:xfrm>
          <a:prstGeom prst="roundRect">
            <a:avLst/>
          </a:prstGeom>
          <a:solidFill>
            <a:srgbClr val="25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9F8F3"/>
                </a:solidFill>
              </a:defRPr>
            </a:pPr>
            <a:r>
              <a:t>LYNX EMS • SINCO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375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ROADMAP FUTURO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Almoxarifado &amp; Ferramentas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Controle de saldos físicos em tempo real por canteiro e central.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Rastreamento e termo de custódia de caixas de ferramentas.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Transferência entre obras com romaneio e aceite digital.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Inventário rotativo facilitado por leitor de código de barras.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Previsão de ativação em etapas futuras.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375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ROADMAP FUTURO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Compras &amp; Suprimentos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Mapa comparativo de cotações integrado a requisições de campo.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Auditoria automática de Pedido de Compra versus XML da NF-e.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Homologação e qualificação de fornecedores industriais.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Gestão de SLA de entrega e prazos contratuais.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Previsão de ativação em etapas futuras.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375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ROADMAP FUTURO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Gestão Financeira &amp; Medições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Medições contratuais atreladas ao avanço físico comprovado no RDO.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Fluxo de caixa projetado versus realizado por canteiro.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Centro de custos individualizado para apuração de margem real.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DRE gerencial consolidado e balancetes operacionais.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Previsão de ativação em etapas futuras.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Proposta Técnico-Comercial • PROP-2026-001 (Rev 00) • Irricom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</a:defRPr>
            </a:pPr>
            <a:r>
              <a:t>Página 8 de 13 | Confidencial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66928"/>
            <a:ext cx="219456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956A"/>
                </a:solidFill>
              </a:defRPr>
            </a:pPr>
            <a:r>
              <a:t>METODOLOGIA ÁGIL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457200"/>
            <a:ext cx="6035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25"/>
                </a:solidFill>
              </a:defRPr>
            </a:pPr>
            <a:r>
              <a:t>A Metodologia LYNX: Inovação Ágil baseada em MVP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Desenvolvimento profundo e orgânico, sem modelos tradicionais engessados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48640"/>
            <a:ext cx="1645920" cy="347472"/>
          </a:xfrm>
          <a:prstGeom prst="roundRect">
            <a:avLst/>
          </a:prstGeom>
          <a:solidFill>
            <a:srgbClr val="25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9F8F3"/>
                </a:solidFill>
              </a:defRPr>
            </a:pPr>
            <a:r>
              <a:t>LYNX EMS • SINCO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375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DEDICAÇÃO PROFUNDA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Imersão de 60 Dias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Dedicação intensiva e exclusiva da Lynx nos primeiros 2 meses.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Adaptação contínua às rotinas reais e peculiaridades da Irricom.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Engenharia de software focada nos gargalos operacionais reais.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Sem limites burocráticos de escopo fechado nesta fase inicial.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375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USO IMEDIATO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Aceleração de Valor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O sistema NÃO precisa estar 100% finalizado para começar a rodar.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Liberação em ciclos curtos para uso imediato das equipes.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Feedback prático vindo diretamente do campo e da fábrica.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Ajustes rápidos de layout e regras de negócio em tempo real.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375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EFICIÊNCIA REAL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Foco na Assertividade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 realidade no campo muda: o software acompanha a operação.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Garantia de que a ferramenta resolva dores reais sem atrito.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Adesão natural dos colaboradores através de usabilidade simples.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Implantação assertiva e com retorno sobre o investimento imediato.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Proposta Técnico-Comercial • PROP-2026-001 (Rev 00) • Irricom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</a:defRPr>
            </a:pPr>
            <a:r>
              <a:t>Página 9 de 13 | Confidencial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66928"/>
            <a:ext cx="219456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956A"/>
                </a:solidFill>
              </a:defRPr>
            </a:pPr>
            <a:r>
              <a:t>GOVERNANÇA DO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457200"/>
            <a:ext cx="6035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25"/>
                </a:solidFill>
              </a:defRPr>
            </a:pPr>
            <a:r>
              <a:t>Checkpoint de Avaliação aos 60 Dias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Transparência total e validação prática de aderência antes da fase continuada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48640"/>
            <a:ext cx="1645920" cy="347472"/>
          </a:xfrm>
          <a:prstGeom prst="roundRect">
            <a:avLst/>
          </a:prstGeom>
          <a:solidFill>
            <a:srgbClr val="25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9F8F3"/>
                </a:solidFill>
              </a:defRPr>
            </a:pPr>
            <a:r>
              <a:t>LYNX EMS • SINCO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DOCUMENTAÇÃO FORMAL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Relatório Técnico de Entrega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Ao término dos 60 dias de imersão, a Lynx emitirá um dossiê completo.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Detalhamento do status e maturidade de cada módulo implementado.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Volume de apontamentos realizados no chão de fábrica e nos canteiros.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Mapeamento de gargalos eliminados e redução de processos em papel.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Plano de sustentação e evolução tecnológica para os meses seguintes.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VALIDAÇÃO DO CLIENTE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Pesquisa de Satisfação &amp; Validação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Coleta formal de feedback com os líderes e equipes operacionais da Irricom.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Avaliação prática da aderência da plataforma à rotina real de obras.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Decisão segura, transparente e fundamentada para continuidade do ecossistema.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Garantia de parceria de longo prazo baseada em resultados mensuráveis comprovados.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Proposta Técnico-Comercial • PROP-2026-001 (Rev 00) • Irricom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</a:defRPr>
            </a:pPr>
            <a:r>
              <a:t>Página 10 de 13 | Confidencial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66928"/>
            <a:ext cx="219456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956A"/>
                </a:solidFill>
              </a:defRPr>
            </a:pPr>
            <a:r>
              <a:t>INFRAESTRUTURA SAAS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457200"/>
            <a:ext cx="6035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25"/>
                </a:solidFill>
              </a:defRPr>
            </a:pPr>
            <a:r>
              <a:t>Infraestrutura Tecnológica Gerenciada pela Lynx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A Irricom foca na engenharia de ponta; a Lynx cuida de toda a sustentação técnica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48640"/>
            <a:ext cx="1645920" cy="347472"/>
          </a:xfrm>
          <a:prstGeom prst="roundRect">
            <a:avLst/>
          </a:prstGeom>
          <a:solidFill>
            <a:srgbClr val="25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9F8F3"/>
                </a:solidFill>
              </a:defRPr>
            </a:pPr>
            <a:r>
              <a:t>LYNX EMS • SINCO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5146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ACESSO WEB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Domínio Exclusivo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Acesso dedicado via: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https://irricom.lynxems.com.br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Ambiente web moderno, rápido e seguro.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Criptografia SSL ponta a ponta em todas as conexões.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371600"/>
            <a:ext cx="25146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CLOUD HOSTING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Servidores &amp; Nuvem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Servidor web e banco de dados em nuvem de alta disponibilidade.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Monitoramento contínuo de uptime e desempenho.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Sem necessidade de servidores locais na Irricom.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25146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SEGURANÇA DE DADOS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Backups Automáticos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Rotinas automáticas diárias de backup de segurança dos dados.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Políticas de retenção segura e tolerância a falhas.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Proteção total dos registros operacionais e relatórios.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371600"/>
            <a:ext cx="251460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SUPORTE CONTÍNUO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Manutenção &amp; Evolução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Todo o custo de desenvolvimento contínuo incluso.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Correções preventivas e melhorias contínuas de usabilidade.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Suporte técnico especializado com a equipe da Lynx.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Proposta Técnico-Comercial • PROP-2026-001 (Rev 00) • Irricom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</a:defRPr>
            </a:pPr>
            <a:r>
              <a:t>Página 11 de 13 | Confidencial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66928"/>
            <a:ext cx="219456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956A"/>
                </a:solidFill>
              </a:defRPr>
            </a:pPr>
            <a:r>
              <a:t>CONDIÇÕES COMERCIAIS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457200"/>
            <a:ext cx="6035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25"/>
                </a:solidFill>
              </a:defRPr>
            </a:pPr>
            <a:r>
              <a:t>Investimento: Setup Inicial &amp; Sustentação Mensal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Valores transparentes, modelo justo de canteiros e sem surpresas contratuais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48640"/>
            <a:ext cx="1645920" cy="347472"/>
          </a:xfrm>
          <a:prstGeom prst="roundRect">
            <a:avLst/>
          </a:prstGeom>
          <a:solidFill>
            <a:srgbClr val="25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9F8F3"/>
                </a:solidFill>
              </a:defRPr>
            </a:pPr>
            <a:r>
              <a:t>LYNX EMS • SINCO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FASE 1 • SETUP INICIAL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Setup Inicial • Imersão Ágil (60 Dias)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Mês 1: R$ 16.520,60 (Levantamento de processos. ambiente web e parametrização),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Mês 2: R$ 16.520,60 (Liberação dos módulos de campo. fábrica. SST e SGQ),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Total Setup: R$ 33.041,20 (Impostos inclusos),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Forma de Pagamento: Emissão no dia 28 com vencimento no dia 10 do mês seguinte.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Condição: Dedicação exclusiva nos primeiros 60 dias de projeto.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FASE 2 • SUSTENTAÇÃO JUSTA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Sustentação Mensal (Franquia 15 Canteiros)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Vigor: A partir do 3º mês (caso opte pela continuidade após os 60 dias).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Mensalidade Base: Equivalente a 6 Salários Mínimos vigentes.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Franquia Inclusa: Até 15 canteiros de obras ativos simultaneamente no sistema.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Regra de Escalabilidade: +0.5 Salário Mínimo por canteiro extra que exceder 15.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Autonomia Total: A Irricom encerra obras no app e a cobrança cessa imediatamente.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Abrange: Nuvem, backups diários, suporte técnico e melhorias contínuas inclusas.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Proposta Técnico-Comercial • PROP-2026-001 (Rev 00) • Irricom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</a:defRPr>
            </a:pPr>
            <a:r>
              <a:t>Página 12 de 13 | Confidencial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566928"/>
            <a:ext cx="2194560" cy="3200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0956A"/>
                </a:solidFill>
              </a:defRPr>
            </a:pPr>
            <a:r>
              <a:t>CRONOGRAMA FINANCEIRO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6120" y="457200"/>
            <a:ext cx="6035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25"/>
                </a:solidFill>
              </a:defRPr>
            </a:pPr>
            <a:r>
              <a:t>Projeção e Progressão do Investimento (12 e 24 Meses)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Visão consolidada de desembolso para a Irricom considerando canteiros ativos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548640"/>
            <a:ext cx="1645920" cy="347472"/>
          </a:xfrm>
          <a:prstGeom prst="roundRect">
            <a:avLst/>
          </a:prstGeom>
          <a:solidFill>
            <a:srgbClr val="25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9F8F3"/>
                </a:solidFill>
              </a:defRPr>
            </a:pPr>
            <a:r>
              <a:t>LYNX EMS • SINCO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3375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44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CENÁRIO 12 MESES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Projeção 12 Meses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Investimento Total: R$ 124.121,20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Média Mensal Diluída: R$ 10.343,43 / mês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Custo Médio por Canteiro: R$ 689,56 / mês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Composição do período: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  - Meses 1 e 2: Setup MVP (R$ 16.520,60/mês)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  - Meses 3 a 12: Sustentação (R$ 9.108,00/mês)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  - Franquia base de até 15 canteiros simultâneos.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375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095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CENÁRIO 24 MESES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Projeção 24 Meses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Investimento Total: R$ 233.417,20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Média Mensal Diluída: R$ 9.725,72 / mês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Custo Médio por Canteiro: R$ 648,38 / mês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Composição do período: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  - Meses 1 e 2: Setup MVP (R$ 16.520,60/mês)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  - Meses 3 a 24: Sustentação (R$ 9.108,00/mês)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  - Diluição acentuada do custo por canteiro ao longo do tempo.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371600"/>
            <a:ext cx="333756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64592" bIns="164592"/>
          <a:lstStyle/>
          <a:p>
            <a:pPr algn="ctr">
              <a:spcAft>
                <a:spcPts val="300"/>
              </a:spcAft>
              <a:defRPr sz="800" b="1">
                <a:solidFill>
                  <a:srgbClr val="10956A"/>
                </a:solidFill>
              </a:defRPr>
            </a:pPr>
            <a:r>
              <a:t>FORMALIZAÇÃO &amp; KICK-OFF</a:t>
            </a:r>
          </a:p>
          <a:p>
            <a:pPr>
              <a:spcAft>
                <a:spcPts val="600"/>
              </a:spcAft>
              <a:defRPr sz="1200" b="1">
                <a:solidFill>
                  <a:srgbClr val="1E2925"/>
                </a:solidFill>
              </a:defRPr>
            </a:pPr>
            <a:r>
              <a:t>Próximos Passos &amp; Formalização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Passo 1: Aprovação e assinatura da proposta comercial.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Passo 2: Provisionamento do ambiente dedicado https://irricom.lynxems.com.br.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Passo 3: Reunião de kick-off com a liderança da Irricom.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Passo 4: Início da imersão de 60 dias e sprints ágeis.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Passo 5: Liberação dos primeiros módulos operacionais em campo.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•  Contato Direto Lynx: comercial@lynxems.com.br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309360"/>
            <a:ext cx="10728655" cy="91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6400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94A3B8"/>
                </a:solidFill>
              </a:defRPr>
            </a:pPr>
            <a:r>
              <a:t>Proposta Técnico-Comercial • PROP-2026-001 (Rev 00) • Irricom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355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94A3B8"/>
                </a:solidFill>
              </a:defRPr>
            </a:pPr>
            <a:r>
              <a:t>Página 13 de 13 | Confidencial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