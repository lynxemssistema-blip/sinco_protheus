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097280"/>
            <a:ext cx="457200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956A"/>
                </a:solidFill>
              </a:defRPr>
            </a:pPr>
            <a:r>
              <a:t>PROPOSTA TÉCNICO-COMERCIAL • REV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8686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54438"/>
                </a:solidFill>
              </a:defRPr>
            </a:pPr>
            <a:r>
              <a:t>Implementação do Ecossistema</a:t>
            </a:r>
            <a:br/>
            <a:r>
              <a:t>SINCO</a:t>
            </a:r>
          </a:p>
          <a:p>
            <a:pPr>
              <a:spcAft>
                <a:spcPts val="1800"/>
              </a:spcAft>
              <a:defRPr sz="1300">
                <a:solidFill>
                  <a:srgbClr val="64748B"/>
                </a:solidFill>
              </a:defRPr>
            </a:pPr>
            <a:r>
              <a:t>Digitalização de ponta a ponta da operação de campo, chão de fábrica, SGQ (ISO 9001) e SST para a Marp.</a:t>
            </a:r>
          </a:p>
          <a:p>
            <a:pPr>
              <a:spcAft>
                <a:spcPts val="1200"/>
              </a:spcAft>
              <a:defRPr sz="950" b="1">
                <a:solidFill>
                  <a:srgbClr val="10956A"/>
                </a:solidFill>
              </a:defRPr>
            </a:pPr>
            <a:r>
              <a:t>PILARES COBERTOS:  SST Industrial • SGQ &amp; Data Book • Chão de Fábrica • RDO Campo • Solicitações • Conexão Universal ERP</a:t>
            </a:r>
          </a:p>
          <a:p>
            <a:pPr>
              <a:defRPr sz="1050" b="1">
                <a:solidFill>
                  <a:srgbClr val="1E2925"/>
                </a:solidFill>
              </a:defRPr>
            </a:pPr>
            <a:r>
              <a:t>Cliente: MARP (Indústria Metalmecânica • Estruturas para Montagens Elétricas &amp; Eletroeletrônicas)   |   Ambiente: https://marp.lynxems.com.br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 de 13 |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CONTEXTO CORPORATIVO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A Operação da Marp &amp; Alinhamento Estratégico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Diagnóstico e oportunidades identificadas para o ecossistema Sinco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PERFIL DA EMPRESA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Cenário Operacional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Atuação consolidada no segmento de Indústria Metalmecânica • Estruturas para Montagens Elétricas &amp; Eletroeletrônicas.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Exigência de precisão técnica e pontualidade na entrega.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Equipes alocadas em múltiplos postos de trabalho e obras.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Demanda por comunicação ágil e sem ruídos entre canteiros e matriz.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OPORTUNIDADES DE MELHORIA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Desafios de Governança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definitiva de controles manuais e planilhas paralelas.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Conformidade rigorosa com normas de segurança do trabalho (SST).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Atendimento contínuo aos requisitos da certificação ISO 9001.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Acesso à informação em tempo real para tomada de decisão ágil.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PARCERIA LYNX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Objetivo da Solução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Implantação sob medida do Ecossistema SINCO para a Marp.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Mobilidade real para apontamentos de campo e chão de fábrica.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Rastreabilidade de ponta a ponta na nuvem.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Infraestrutura 100% gerenciada pela Lynx no modelo SaaS.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2 de 13 |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TECNOLOGIA SINCO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O Que é o Ecossistema SINCO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 camada de mobilidade e inteligência operacional compatível com qualquer ERP (Protheus, Omie, Sankhya, etc.)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1 • CAMPO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PWA Mobile de Campo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Interface tátil pensada para tablets e smartphones dos operadores.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Apontamentos rápidos de diários de obra e requisições sem burocracia.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Modo offline híbrido com sincronização automática.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Operação simplificada para operadores e encarregados.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2 • GESTÃO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Cockpit Web Matriz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Central de comando para gerentes, engenheiros e diretoria.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Acompanhamento em tempo real do avanço físico e pendências.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Dashboards de produtividade fabril, SST e qualidade.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Relatórios executivos e gráficos consolidados.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3 • ERP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Conexão Universal com ERPs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Barramento nativo com qualquer ERP (Protheus, Omie, Sankhya, etc.).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Aproveitamento integral de cadastros de OPs, clientes e produtos.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 redigitação de informações.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Sem necessidade de customizações invasivas no ERP de origem.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4 • CLOUD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Segurança &amp; Auditoria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Controle granular de acessos por perfil de usuário.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Trilha de auditoria completa em todas as operações.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Criptografia SSL ponta a ponta e redundância.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Conformidade com normas de governança corporativa.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3 de 13 |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SST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Módulo SST Industrial: Gestão Digital de Compliance e Risco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Garantindo compliance total em áreas industriais e atendimento rigoroso a normas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DDS DIGITAL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DDS Digital &amp; Assinatura na Tela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Diálogo Diário de Segurança preenchido pelo celular do encarregado.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Assinatura digital na tela e captura fotográfica do time reunido.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total de fichas de presença em papel e extravios.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PERMISSÃO DE TRABALHO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APR &amp; Permissão de Trabalho (PT / PET)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Liberação digital para atividades críticas (NR-35 altura, NR-10 elétrica, NR-33 confinamento).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Validação obrigatória de pré-requisitos antes de liberar a frente de serviço.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Histórico digital auditável para auditorias de segurança e clientes contratantes.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CHECKLISTS PRÉ-OPERACIONAIS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Checklists com Fotos Obrigatórias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Vistorias pré-operacionais de caminhões munck, guindastes, compressores e ferramentas.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Registro fotográfico obrigatório de inconformidades e bloqueio de máquinas.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Comprovação jurídica imediata em caso de fiscalização.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GOVERNANÇA DE SST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Gestão de NRs, ASOs &amp; Indicador HHT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Alertas preventivos com 30 dias de antecedência para reciclagens de NRs e ASOs.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Registro instantâneo de quase-acidentes e condições inseguras.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Cálculo automático de Horas-Homem Trabalhadas (HHT) e Taxa de Gravidade.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4 de 13 |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SGQ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Módulo SGQ: Suporte à ISO 9001 e Rastreabilidade Total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Digitalização de inspeções de qualidade e compilação de Data Books para clientes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INSPEÇÕES DIGITAIS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FIP e FIQ Digitais no Posto de Trabalho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Fichas de Inspeção de Processo e Qualidade com critérios e tolerâncias dimensionais.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Ensaios não destrutivos (líquido penetrante, visual de solda) com evidência fotográfica.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Liberação formal pelo inspetor antes do avanço para a próxima etapa produtiva.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TRATATIVA DE RNCS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Gestão de RNCs com 5W2H e Ishikawa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Abertura ágil de Não Conformidades na fábrica ou na obra de montagem.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Análise de causa-raiz estruturada (Espinha de Peixe / Ishikawa).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Plano de ação corretivo com metodologia 5W2H, responsáveis e prazos.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RASTREABILIDADE UNITÁRIA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Rastreabilidade por QR Code &amp; Certificados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Identificação unitária das peças e conjuntos soldados via etiqueta QR Code resistente.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Vinculação direta com o certificado de corrida do aço da usina siderúrgica.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Rastreio do soldador qualificado responsável por cada junta soldada.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DATA BOOK AUTOMATIZADO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Calibração &amp; Data Book em 1 Clique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Controle metrológico de paquímetros, torquímetros e manômetros com alertas de aferição.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Emissão automatizada do Data Book completo da obra em 1 clique.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Atendimento imediato e sem atrasos para grandes mineradoras e indústrias.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5 de 13 |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FÁBRICA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Módulo Gestão Fabril: Chão de Fábrica e PCP em Tempo Real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Terminais industriais touch nos postos produtivos e sincronização com OPs do Protheus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CHÃO DE FÁBRICA TOUCH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Apontamento Operacional Touch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Telas industriais touch nos centros de corte, dobra, solda, pintura e montagem.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Início, pausa e conclusão de operações via leitor de código de barras das OPs.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 fichas de produção em papel e atrasos de digitação.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PRODUTIVIDADE FABRIL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Tempo Padrão vs. Tempo Real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Comparativo automático entre o tempo previsto na engenharia e o tempo real apontado.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Aferição da eficiência operacional e OEE por operador, equipe e posto.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Apuração precisa do custo real de fabricação de cada estrutura.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KANBAN DE PRODUÇÃO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Esteira Produtiva Visual (Kanban Fabril)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Visibilidade em tempo real das OPs: Matéria-Prima, Fabricação, SGQ e Liberado.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Alertas automáticos para o PCP sobre gargalos em postos críticos.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Previsão confiável de datas de entrega para faturamento.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EXPEDIÇÃO &amp; CUSTOS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Romaneio de Expedição &amp; Gestão de Refugo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Conferência cega por leitor óptico na expedição: zero itens faltantes no embarque.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Apontamento e quantificação de perdas metálicas, sucatas e retrabalho.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Garantia de que nada sai da fábrica para a obra sem estar inspecionado pelo SGQ.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6 de 13 |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Gestão de Campo (RDO Digital) &amp; Solicitações Canteiro-Matriz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Controle de canteiros remotos, segurança jurídica contratual e logística ágil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CANTEIRO DE OBRAS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Gestão de Campo &amp; RDO Digital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Diário de Obra (RDO) 100% Digital preenchido direto no celular na frente de serviço.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Captura automática de clima (sol, chuva) e registro de efetivo presente por função.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Avanço Físico Ponderado (% executado) com registro fotográfico georreferenciado.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Relatório Formal de Paralisações por chuvas ou terceiros (essencial para pleitos/claims).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Modo Offline Híbrido: preenchimento completo sem internet e sincronização automática.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Painel geográfico de canteiros para acompanhamento em tempo real pela diretoria.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CANAL OFICIAL CANTEIRO-MATRIZ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Solicitações de Campo Canteiro ↔ Matriz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Canal digital oficial para requisição de peças, consumíveis, EPIs e ferramentas.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definitiva de pedidos informais perdidos em mensagens de WhatsApp.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Alçadas inteligentes de aprovação (Encarregado da Obra -&gt; Coordenador -&gt; Suprimentos).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Timeline logística visual: Solicitado, Em Cotação, Em Separação, Despachado e Entregue.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Comprovante digital de recebimento na obra com foto e assinatura do recebedor.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Centralização de pedidos evitando compras em duplicidade e custos desnecessários.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7 de 13 |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ROADMAP •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Roadmap de Expansão (Módulos Futuros Pós-MVP)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Evolução planejada do ecossistema após a consolidação da Fase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ROADMAP FUTURO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Catálogo Paramétrico &amp; BOM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Cálculo de peso linear e consumo de arame por milheiro de parafusos.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Biblioteca de perfis de cabeça (sextavada, allen, chata) e normas DIN/ISO.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Roteiro de fabricação gerado automaticamente do desenho técnico.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Integração de matrizes e parâmetros de conformação a frio.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ROADMAP FUTURO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Portal B2B do Cliente Delta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Acesso dedicado para clientes consultarem OPs em fabricação.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Download direto de certificados de qualidade e ensaios metalúrgicos.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Canal ágil para cotações e repetição de pedidos.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Redução de chamados e atrito no atendimento comercial.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ROADMAP FUTURO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Custo Real por Milheiro / Batelada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Apropriação de matéria-prima, tempo de máquina e mão de obra.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Consumo real de aço versus sucata gerada por batelada.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DRE gerencial industrial em tempo real.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Apuração da lucratividade real por tipo de fixador e cliente.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8 de 13 |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METODOLOGIA ÁGIL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A Metodologia LYNX: Inovação Ágil &amp; Homologação Contínua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Desenvolvimento profundo e orgânico, sem modelos tradicionais engessados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DEDICAÇÃO PROFUNDA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Imersão Inicial &amp; Mapeamento de Processos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Dedicação técnica intensiva da Lynx na fábrica da Marp.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Mapeamento minucioso dos postos de corte laser, puncionamento, dobra CNC, caldeiraria e pintura da Marp Painéis nas primeiras semanas de projeto.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Engenharia de software focada nos gargalos operacionais reais.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Sem limites burocráticos de escopo fechado nesta fase inicial.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USO IMEDIATO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Aceleração de Valor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O sistema NÃO precisa estar 100% finalizado para começar a rodar.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Liberação em ciclos curtos para uso imediato das equipes.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Feedback prático vindo diretamente do campo e da fábrica.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Ajustes rápidos de layout e regras de negócio em tempo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EFICIÊNCIA REAL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Foco na Assertividade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 realidade no chão de fábrica dita as prioridades do sistema.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Garantia de que a ferramenta resolva dores reais sem atrito.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Adesão natural dos colaboradores através de usabilidade simples.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Implantação assertiva e com retorno sobre o investimento imediato.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9 de 13 |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GOVERNANÇA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Checkpoint de Avaliação &amp; Homologação aos 60 Dias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Validação prática da operação piloto no chão de fábrica e postos SGQ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DOCUMENTAÇÃO FORMAL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Relatório Técnico de Entrega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Aos 60 dias de implantação piloto, a Lynx emitirá um dossiê completo.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Detalhamento do status e maturidade de cada módulo implementado.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Volume de apontamentos realizados no chão de fábrica e postos SGQ.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Mapeamento de gargalos eliminados e redução de processos manuais.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Acompanha o marco da 1ª parcela de setup e avanço para homologação final.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VALIDAÇÃO DO CLIENTE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Pesquisa de Satisfação &amp; Validação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Coleta formal de feedback com os líderes e equipes operacionais da Marp.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Avaliação prática da aderência da plataforma à rotina real fabril.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Decisão segura, transparente e fundamentada para continuidade do ecossistema.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Garantia de parceria de longo prazo baseada em resultados mensuráveis comprovados.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10 de 13 | 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INFRAESTRUTURA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Infraestrutura Tecnológica Gerenciada pela Lynx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 Marp foca na fabricação de ponta; a Lynx cuida de toda a sustentação técnica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ACESSO WEB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Domínio Exclusivo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Acesso dedicado via: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https://marp.lynxems.com.br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Ambiente web moderno, rápido e seguro.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Criptografia SSL ponta a ponta em todas as conexões.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CLOUD HOSTING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Servidores &amp; Nuvem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Servidor web e banco de dados em nuvem de alta disponibilidade.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Monitoramento contínuo de uptime e desempenho.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Sem necessidade de servidores locais na Marp.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SEGURANÇA DE DADOS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Backups Automáticos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Rotinas automáticas diárias de backup de segurança dos dados.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Políticas de retenção segura e tolerância a falhas.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Proteção total dos registros operacionais e relatórios.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SUPORTE CONTÍNUO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Manutenção &amp; Evolução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Todo o custo de desenvolvimento contínuo incluso.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Correções preventivas e melhorias contínuas de usabilidade.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Suporte técnico especializado com a equipe da Lynx.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11 de 13 |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CONDIÇÕES COMERCIAIS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Investimento: Setup Inicial &amp; Sustentação Mensal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Valores transparentes, modelo justo de usuários ilimitados e sem surpresas contratuais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FASE 1 • SETUP EM 8 ETAPAS (SEM CARÊNCIA)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Setup Inicial • 8 Parcelas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Entrada Inicial: R$ 16.532,30 à vista (até 5 dias após assinatura),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Dia 30: Emissão NF 2ª Parcela — Homologação da Arquitetura &amp; Mapeamento de Softwares (R$ 12.635,30) c/ vencto 10d,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Dia 60: Emissão NF Mensalidade de Desenvolvimento 1/6 — Chaparia. Bitolas &amp; BOM (R$ 17.635,32) c/ vencto 10d,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Dia 90: Emissão NF Mensalidade de Desenvolvimento 2/6 — Conectores Softwares &amp; Nesting (R$ 17.635,32) c/ vencto 10d,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Dia 120: Emissão NF Mensalidade de Desenvolvimento 3/6 — Chão de Fábrica Touch &amp; PCP (R$ 17.635,32) c/ vencto 10d,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Dia 150: Emissão NF Mensalidade de Desenvolvimento 4/6 — Módulo SGQ &amp; Inspeção de Pintura/IP (R$ 17.635,32) c/ vencto 10d,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Dia 180: Emissão NF Mensalidade de Desenvolvimento 5/6 — Expedição. Romaneio &amp; Piloto Fabril (R$ 17.635,32) c/ vencto 10d,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Dia 210: Emissão NF Mensalidade de Desenvolvimento 6/6 — Go-Live Assistido &amp; Encerramento do Setup (R$ 17.635,32) c/ vencto 10d,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Total Geral Setup: R$ 134.979,52 (8 Parcelas),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Faturamento Mensal: Emissão dia 28 c/ vencto dia 10 do mês seguinte.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FASE 2 • SUSTENTAÇÃO CONTÍNUA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Sustentação Mensal (Contrato 24 Meses)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Mensalidade Base: R$ 9.108,00/mês,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Vigência Contratual: 24 meses com total previsibilidade.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Critério de Reajuste: Anual (a cada 12 meses) atrelado à variação do Salário Mínimo Nacional.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Licenciamento: Usuários e terminais ilimitados em todo o chão de fábrica e escritórios.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Nenhum Custo por Assento: A Delta cresce na fábrica sem pagar mais por operador adicional.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Abrange: Servidor em nuvem, backups diários, suporte técnico especializado LYNX nível 2 e 3.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12 de 13 | Confidencial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CRONOGRAMA 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Projeção e Progressão do Investimento (12 e 24 Meses)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Visão consolidada de desembolso para a Marp com amortização do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CICLO ANUAL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Projeção 1º Ano (12m)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Investimento Total 1º Ano: R$ 226.059,52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Média Mensal Diluída: R$ 18.838,29 / mês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Composição do período: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Setup Inicial: R$ 134.979,52 em 8 parcelas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Mensalidades de Sustentação (R$ 9.108,00/mês)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Usuários e terminais de fábrica ilimitados.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Reajuste após 12 meses pelo Salário Mínimo Nacional.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CICLO BIENAL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Projeção 24 Meses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Investimento Total 24 Meses: R$ 335.355,52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Média Mensal Diluída: R$ 13.973,15 / mês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Composição do período: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Setup Inicial integralmente amortizado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Sustentação contínua de 24 meses (R$ 9.108,00/mês)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Diluição contínua do custo mensal ao longo do ciclo bienal.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Garantia de sustentação e evolução permanente da plataforma.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FORMALIZAÇÃO &amp; KICK-OFF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Próximos Passos &amp; Kick-Off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1: Aprovação e assinatura formal da proposta.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2: Provisionamento do ambiente dedicado https://marp.lynxems.com.br.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3: Reunião de kick-off com a diretoria e equipe da Marp.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4: Início da imersão diagnóstica no chão de fábrica e SGQ.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5: Liberação dos primeiros postos touch para uso imediato.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Contato Direto Lynx: edsonmanoel2012@gmail.com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PROP-2026-003 (Rev 00) • Marp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13 de 13 |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