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9997135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097280"/>
            <a:ext cx="4572000" cy="365760"/>
          </a:xfrm>
          <a:prstGeom prst="roundRect">
            <a:avLst/>
          </a:prstGeom>
          <a:solidFill>
            <a:srgbClr val="ECFDF5"/>
          </a:solidFill>
          <a:ln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956A"/>
                </a:solidFill>
              </a:defRPr>
            </a:pPr>
            <a:r>
              <a:t>PROPOSTA TÉCNICO-COMERCIAL • REV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8686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54438"/>
                </a:solidFill>
              </a:defRPr>
            </a:pPr>
            <a:r>
              <a:t>Implementação do Ecossistema</a:t>
            </a:r>
            <a:br/>
            <a:r>
              <a:t>SINCO</a:t>
            </a:r>
          </a:p>
          <a:p>
            <a:pPr>
              <a:spcAft>
                <a:spcPts val="1800"/>
              </a:spcAft>
              <a:defRPr sz="1300">
                <a:solidFill>
                  <a:srgbClr val="64748B"/>
                </a:solidFill>
              </a:defRPr>
            </a:pPr>
            <a:r>
              <a:t>Digitalização de ponta a ponta da operação de campo, chão de fábrica, SGQ (ISO 9001) e SST para a Delta.</a:t>
            </a:r>
          </a:p>
          <a:p>
            <a:pPr>
              <a:spcAft>
                <a:spcPts val="1200"/>
              </a:spcAft>
              <a:defRPr sz="950" b="1">
                <a:solidFill>
                  <a:srgbClr val="10956A"/>
                </a:solidFill>
              </a:defRPr>
            </a:pPr>
            <a:r>
              <a:t>PILARES COBERTOS:  SST Industrial • SGQ &amp; Data Book • Chão de Fábrica • RDO Campo • Solicitações • Conexão Universal ERP</a:t>
            </a:r>
          </a:p>
          <a:p>
            <a:pPr>
              <a:defRPr sz="1050" b="1">
                <a:solidFill>
                  <a:srgbClr val="1E2925"/>
                </a:solidFill>
              </a:defRPr>
            </a:pPr>
            <a:r>
              <a:t>Cliente: DELTA (Indústria Metalmecânica • Fabricação de Fixadores &amp; Parafusos Especiais)   |   Ambiente: https://delta.lynxems.com.br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PROP-2026-002 (Rev 00) • Delta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 de 13 |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CONTEXTO CORPORATIVO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A Operação da Delta &amp; Alinhamento Estratégico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Diagnóstico e oportunidades identificadas para o ecossistema Sinco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PERFIL DA EMPRESA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Cenário Operacional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Atuação consolidada no segmento de Indústria Metalmecânica • Fabricação de Fixadores &amp; Parafusos Especiais.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Exigência de precisão técnica e pontualidade na entrega.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Equipes alocadas em múltiplos postos de trabalho e obras.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Demanda por comunicação ágil e sem ruídos entre canteiros e matriz.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OPORTUNIDADES DE MELHORIA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Desafios de Governança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Eliminação definitiva de controles manuais e planilhas paralelas.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Conformidade rigorosa com normas de segurança do trabalho (SST).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Atendimento contínuo aos requisitos da certificação ISO 9001.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Acesso à informação em tempo real para tomada de decisão ágil.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PARCERIA LYNX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Objetivo da Solução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Implantação sob medida do Ecossistema SINCO para a Delta.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Mobilidade real para apontamentos de campo e chão de fábrica.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Rastreabilidade de ponta a ponta na nuvem.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Infraestrutura 100% gerenciada pela Lynx no modelo SaaS.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PROP-2026-002 (Rev 00) • Delta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2 de 13 | Confidencial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TECNOLOGIA SINCO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O Que é o Ecossistema SINCO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 camada de mobilidade e inteligência operacional compatível com qualquer ERP (Protheus, Omie, Sankhya, etc.)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CAMADA 1 • CAMPO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PWA Mobile de Campo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Interface tátil pensada para tablets e smartphones dos operadores.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Apontamentos rápidos de diários de obra e requisições sem burocracia.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Modo offline híbrido com sincronização automática.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Operação simplificada para operadores e encarregados.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CAMADA 2 • GESTÃO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Cockpit Web Matriz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Central de comando para gerentes, engenheiros e diretoria.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Acompanhamento em tempo real do avanço físico e pendências.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Dashboards de produtividade fabril, SST e qualidade.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Relatórios executivos e gráficos consolidados.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CAMADA 3 • ERP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Conexão Universal com ERPs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Barramento nativo com qualquer ERP (Protheus, Omie, Sankhya, etc.).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Aproveitamento integral de cadastros de OPs, clientes e produtos.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Eliminação de redigitação de informações.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Sem necessidade de customizações invasivas no ERP de origem.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CAMADA 4 • CLOUD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Segurança &amp; Auditoria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Controle granular de acessos por perfil de usuário.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Trilha de auditoria completa em todas as operações.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Criptografia SSL ponta a ponta e redundância.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Conformidade com normas de governança corporativa.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PROP-2026-002 (Rev 00) • Delta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3 de 13 | Confidencial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MÓDULO OPERACIONAL • FÁBRICA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Módulo Fabricação de Fixadores &amp; Chão de Fábrica Touch (MES &amp; PCP)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Controle em tempo real de cabeceamento, prensas, laminação de rosca e 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CHÃO DE FÁBRICA TOUCH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Apontamento Operacional Touch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Telas simplificadas nas cabeceadoras automáticas, prensas e laminadoras de rosca.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Início, pausas e conclusão de bateladas com leitor de código de barras das OPs.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Eliminação definitiva de fichas manuais de produção em papel e retrabalho.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PRODUTIVIDADE FABRIL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Tempo Padrão vs. Tempo Real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Cadência automática de batelada em peças/minuto por máquina e operador.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Aferição do tempo de setup de ferramental e matrizes de cabeceamento.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Apuração precisa do custo homem-máquina real por milheiro produzido.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KANBAN DE FIXADORES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Esteira Produtiva Visual (Kanban Fabril)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Visibilidade total das OPs: Matéria-Prima, Cabeceamento, Rosca, Banho e Embalagem.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Alertas automáticos para o PCP sobre gargalos em postos de laminação e prensas.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Previsão confiável de datas de entrega e sincronização com faturamento.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EXPEDIÇÃO &amp; CUSTOS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Gestão de Sucata, Refugo &amp; OP Fracionada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Apontamento de perdas de aço, quebra de punções e causas de parada de máquina.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OP Fracionada: divisão de lotes volumosos em caixas e paletes identificados.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Rastreabilidade por código de barras em toda a movimentação interna da fábrica.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PROP-2026-002 (Rev 00) • Delta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4 de 13 | Confidencial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MÓDULO OPERACIONAL • SGQ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Módulo SGQ &amp; Laboratório da Qualidade: Suporte à ISO 9001 e PPAP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Inspeções dimensionais de rosca, ensaios mecânicos e emissão de laudos de entrega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INSPEÇÕES DIMENSIONAIS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FIP e FIQ Digitais no Posto de Trabalho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Inspeções com calibradores passa/não-passa de rosca (6g/6H) e projetores de perfil.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Tolerâncias dimensionais de altura/chave da cabeça, diâmetro primitivo e corpo.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Liberação formal pelo inspetor do SGQ antes do avanço para tratamentos.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LABORATÓRIO MECÂNICO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Ensaios Mecânicos por Lote de Produção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Lançamento de dureza superficial e núcleo (HRC/HRB), torque de aperto e tração.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Atendimento a fixadores de alta resistência (Classes 8.8, 10.9, 12.9, ASTM e DIN).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Armazenamento seguro dos registros de ensaios vinculados à OP de fabricação.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RASTREABILIDADE DO AÇO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Rastreabilidade Lote ↔ Corrida do Aço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Vínculo direto e inquebrável do lote faturado com a corrida do aço da usina.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Certificado de matéria-prima (composição química e mecânica) anexado à OP.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Histórico completo auditável em caso de auditoria de clientes contratantes.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QUALIDADE AUTOMATIZADA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Gestão de RNCs &amp; Certificado em 1 Clique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Abertura de RNCs com fotos de trincas de forjamento e metodologia 5W2H/Ishikawa.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Controle metrológico de calibração de paquímetros, micrômetros e torquímetros.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Emissão instantânea do Certificado de Qualidade / Data Book em PDF com a nota fiscal.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PROP-2026-002 (Rev 00) • Delta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5 de 13 | Confidencial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MÓDULO OPERACIONAL • SUPRIMENTOS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Módulo Suprimentos, Matéria-Prima &amp; Auditoria 3-Way Matching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Recebimento inteligente de arames/bobinas e controle de insumos industriais críticos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ENTRADA DE AÇO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Confronto Triplo Automático (3-Way Matching)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Cruzamento automático do XML da NF do fornecedor de aço com o Pedido de Compra.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Conferência física de peso bruto/líquido e amarração com a corrida do arame.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Validação automática de impostos e tributações antes da escrituração contábil.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FERRAMENTAL CRÍTICO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Gestão de Matrizes, Punções &amp; Pentes de Rosca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Rastreamento de vida útil de ferramentas de conformação e matrizes de metal duro.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Controle de estoque de pentes de laminação, punções de impacto e óleos de corte.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Previsão de reposição preventiva evitando paradas de máquina não planejadas.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ALMOXARIFADO ÁGIL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Requisições Internas Digitais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Solicitação ágil de insumos e ferramentas pelos operadores de linha.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Alçadas de aprovação entre encarregado de fábrica e almoxarifado central.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Fim de bilhetes manuais e garantia de entrega controlada por centro de trabalho.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GESTÃO DE ESTOQUES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Controle de Estoque &amp; Saldos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Visão precisa de estoques de fio máquina, arames trefilados e parafusos prontos.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Rastreamento de lotes acabados separados por cliente, bitola e tratamento.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Inventário rotativo facilitado por leitor de código de barras.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PROP-2026-002 (Rev 00) • Delta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6 de 13 | Confidencial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MÓDULO OPERACIONAL • LOGÍSTICA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Módulo Logística, Beneficiamento Externo &amp; Romaneios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Controle de etapas externas (têmpera/zincagem) e expedição com romaneio eletrônico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BENEFICIAMENTO EXTERNO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Beneficiamento Externo &amp; Romaneios de Remessa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Controle rigoroso de lotes enviados para tratamento térmico terceirizado.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Romaneios de remessa para banhos de zincagem, galvanoplastia e Delta Protekt.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Acompanhamento em tempo real do saldo de materiais em poder de terceiros.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Recebimento de retorno de terceiros com conferência de pesagem e laudo de camada.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Reincorporação automática do lote na esteira fabril após inspeção do SGQ.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EXPEDIÇÃO &amp; QUALIDADE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Romaneio de Expedição &amp; Trava SGQ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Emissão eletrônica de romaneios de carga para clientes finais e transportadoras.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Conferência cega com leitor óptico das caixas, embalagens e pesagem líquida/bruta.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Bloqueio automático: nenhum item pode ser despachado sem liberação formal do SGQ.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Ficha Digital de EPI (NR-06) e Checklists Diários de Segurança em Prensas (NR-12).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Blindagem operacional completa e garantia de satisfação dos clientes da Delta.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PROP-2026-002 (Rev 00) • Delta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7 de 13 | Confidencial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ROADMAP •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Roadmap de Expansão (Módulos Futuros Pós-MVP)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Evolução planejada do ecossistema após a consolidação da Fase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ROADMAP FUTURO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Catálogo Paramétrico &amp; BOM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Cálculo de peso linear e consumo de arame por milheiro de parafusos.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Biblioteca de perfis de cabeça (sextavada, allen, chata) e normas DIN/ISO.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Roteiro de fabricação gerado automaticamente do desenho técnico.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Integração de matrizes e parâmetros de conformação a frio.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ROADMAP FUTURO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Portal B2B do Cliente Delta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Acesso dedicado para clientes consultarem OPs em fabricação.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Download direto de certificados de qualidade e ensaios metalúrgicos.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Canal ágil para cotações e repetição de pedidos.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Redução de chamados e atrito no atendimento comercial.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ROADMAP FUTURO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Custo Real por Milheiro / Batelada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Apropriação de matéria-prima, tempo de máquina e mão de obra.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Consumo real de aço versus sucata gerada por batelada.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DRE gerencial industrial em tempo real.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Apuração da lucratividade real por tipo de fixador e cliente.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PROP-2026-002 (Rev 00) • Delta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8 de 13 | Confidencial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METODOLOGIA ÁGIL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A Metodologia LYNX: Inovação Ágil &amp; Homologação Contínua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Desenvolvimento profundo e orgânico, sem modelos tradicionais engessados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DEDICAÇÃO PROFUNDA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Imersão Inicial &amp; Diagnóstico Fabril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Dedicação técnica intensiva da Lynx na fábrica da Delta.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Mapeamento detalhado dos postos de conformação, laminação e bancadas de inspeção da Delta nos primeiros dias de projeto.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Engenharia de software focada nos gargalos operacionais reais.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Sem limites burocráticos de escopo fechado nesta fase inicial.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USO IMEDIATO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Aceleração de Valor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O sistema NÃO precisa estar 100% finalizado para começar a rodar.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Liberação em ciclos curtos para uso imediato das equipes.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Feedback prático vindo diretamente do campo e da fábrica.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Ajustes rápidos de layout e regras de negócio em tempo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EFICIÊNCIA REAL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Foco na Assertividade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 realidade no chão de fábrica dita as prioridades do sistema.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Garantia de que a ferramenta resolva dores reais sem atrito.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Adesão natural dos colaboradores através de usabilidade simples.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Implantação assertiva e com retorno sobre o investimento imediato.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PROP-2026-002 (Rev 00) • Delta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9 de 13 | Confidencial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GOVERNANÇA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Checkpoint de Avaliação &amp; Homologação aos 60 Dias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Validação prática da operação piloto no chão de fábrica e postos SGQ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DOCUMENTAÇÃO FORMAL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Relatório Técnico de Entrega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Aos 60 dias de implantação piloto, a Lynx emitirá um dossiê completo.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Detalhamento do status e maturidade de cada módulo implementado.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Volume de apontamentos realizados no chão de fábrica e postos SGQ.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Mapeamento de gargalos eliminados e redução de processos manuais.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Acompanha o marco da 1ª parcela de setup e avanço para homologação final.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VALIDAÇÃO DO CLIENTE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Pesquisa de Satisfação &amp; Validação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Coleta formal de feedback com os líderes e equipes operacionais da Delta.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Avaliação prática da aderência da plataforma à rotina real fabril.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Decisão segura, transparente e fundamentada para continuidade do ecossistema.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Garantia de parceria de longo prazo baseada em resultados mensuráveis comprovados.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PROP-2026-002 (Rev 00) • Delta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10 de 13 | Confidencial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INFRAESTRUTURA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Infraestrutura Tecnológica Gerenciada pela Lynx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 Delta foca na fabricação de ponta; a Lynx cuida de toda a sustentação técnica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ACESSO WEB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Domínio Exclusivo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Acesso dedicado via: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https://delta.lynxems.com.br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Ambiente web moderno, rápido e seguro.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Criptografia SSL ponta a ponta em todas as conexões.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CLOUD HOSTING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Servidores &amp; Nuvem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Servidor web e banco de dados em nuvem de alta disponibilidade.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Monitoramento contínuo de uptime e desempenho.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Sem necessidade de servidores locais na Delta.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SEGURANÇA DE DADOS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Backups Automáticos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Rotinas automáticas diárias de backup de segurança dos dados.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Políticas de retenção segura e tolerância a falhas.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Proteção total dos registros operacionais e relatórios.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SUPORTE CONTÍNUO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Manutenção &amp; Evolução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Todo o custo de desenvolvimento contínuo incluso.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Correções preventivas e melhorias contínuas de usabilidade.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Suporte técnico especializado com a equipe da Lynx.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PROP-2026-002 (Rev 00) • Delta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11 de 13 | Confidencial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CONDIÇÕES COMERCIAIS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Investimento: Setup Inicial &amp; Sustentação Mensal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Valores transparentes, modelo justo de usuários ilimitados e sem surpresas contratuais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FASE 1 • SETUP EM 3 ETAPAS (SEM CARÊNCIA)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Setup Inicial • 3 Parcelas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Entrada Inicial: R$ 9.562,30 à vista (até 5 dias após assinatura),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Dia 60: Emissão NF 1ª Parcela — Implantação Piloto &amp; Chão de Fábrica (R$ 8.520,00) c/ vencto 10d,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Dia 90: Emissão NF 2ª Parcela — Homologação &amp; Quitação do Setup (R$ 12.636,00) c/ vencto 10d,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Total Geral Setup: R$ 30.718,30 (3 Parcelas),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Faturamento Mensal: Emissão dia 28 c/ vencto dia 10 do mês seguinte.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FASE 2 • SUSTENTAÇÃO CONTÍNUA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Sustentação Mensal (Contrato 24 Meses)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Mensalidade Base: R$ 4.692,30/mês,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Vigência Contratual: 24 meses com total previsibilidade.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Critério de Reajuste: Anual (a cada 12 meses) atrelado à variação do Salário Mínimo Nacional.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Licenciamento: Usuários e terminais ilimitados em todo o chão de fábrica e escritórios.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Nenhum Custo por Assento: A Delta cresce na fábrica sem pagar mais por operador adicional.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Abrange: Servidor em nuvem, backups diários, suporte técnico especializado LYNX nível 2 e 3.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PROP-2026-002 (Rev 00) • Delta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12 de 13 | Confidencial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CRONOGRAMA FINANCEIRO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Projeção e Progressão do Investimento (12 e 24 Meses)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Visão consolidada de desembolso para a Delta com amortização do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CICLO ANUAL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Projeção 1º Ano (12m)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Investimento Total 1º Ano: R$ 77.641,30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Média Mensal Diluída: R$ 6.470,11 / mês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Composição do período: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Setup Inicial: R$ 30.718,30 em 3 parcelas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Mensalidades de Sustentação (R$ 4.692,30/mês)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Usuários e terminais de fábrica ilimitados.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Reajuste após 12 meses pelo Salário Mínimo Nacional.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CICLO BIENAL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Projeção 24 Meses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Investimento Total 24 Meses: R$ 133.948,90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Média Mensal Diluída: R$ 5.581,20 / mês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Composição do período: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Setup Inicial integralmente amortizado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Sustentação contínua de 24 meses (R$ 4.692,30/mês)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Diluição contínua do custo mensal ao longo do ciclo bienal.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Garantia de sustentação e evolução permanente da plataforma.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FORMALIZAÇÃO &amp; KICK-OFF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Próximos Passos &amp; Kick-Off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1: Aprovação e assinatura formal da proposta.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2: Provisionamento do ambiente dedicado https://delta.lynxems.com.br.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3: Reunião de kick-off com a diretoria e equipe da Delta.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4: Início da imersão diagnóstica no chão de fábrica e SGQ.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5: Liberação dos primeiros postos touch para uso imediato.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Contato Direto Lynx: edsonmanoel2012@gmail.com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PROP-2026-002 (Rev 00) • Delta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13 de 13 |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