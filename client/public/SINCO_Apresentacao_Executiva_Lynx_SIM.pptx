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IPO S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1585570" cy="384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03120" y="292608"/>
            <a:ext cx="2926080" cy="292608"/>
          </a:xfrm>
          <a:prstGeom prst="roundRect">
            <a:avLst/>
          </a:prstGeom>
          <a:solidFill>
            <a:srgbClr val="2A3833"/>
          </a:solidFill>
          <a:ln w="1270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800"/>
                </a:solidFill>
              </a:defRPr>
            </a:pPr>
            <a:r>
              <a:t>DOSSIÊ TÉCNICO &amp; DIRETRIZES NORMATIVAS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2011680" cy="475488"/>
          </a:xfrm>
          <a:prstGeom prst="roundRect">
            <a:avLst/>
          </a:prstGeom>
          <a:solidFill>
            <a:srgbClr val="283631"/>
          </a:solidFill>
          <a:ln w="12700">
            <a:solidFill>
              <a:srgbClr val="556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-consultor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37744"/>
            <a:ext cx="384048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0" y="292608"/>
            <a:ext cx="640080" cy="274320"/>
          </a:xfrm>
          <a:prstGeom prst="roundRect">
            <a:avLst/>
          </a:prstGeom>
          <a:solidFill>
            <a:srgbClr val="E0E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51D1A"/>
                </a:solidFill>
              </a:defRPr>
            </a:pPr>
            <a:r>
              <a:t>18 ANOS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188720"/>
            <a:ext cx="6309360" cy="365760"/>
          </a:xfrm>
          <a:prstGeom prst="roundRect">
            <a:avLst/>
          </a:prstGeom>
          <a:solidFill>
            <a:srgbClr val="283631"/>
          </a:solidFill>
          <a:ln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★  INDÚSTRIA 4.0 • ENGENHARIA DE PROCESSOS • SGQ &amp; GOVERNANÇA CORPORATIVA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E800"/>
                </a:solidFill>
              </a:defRPr>
            </a:pPr>
            <a:r>
              <a:t>SINCO INDUSTRIAL SUITE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 Alta Precisão que Faltava ao Seu ERP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08960"/>
            <a:ext cx="9448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D8DCDA"/>
                </a:solidFill>
              </a:defRPr>
            </a:pPr>
            <a:r>
              <a:t>A suíte inteligente desenvolvida pelo Grupo Lynx em parceria com a SIM Consultoria (18 anos em Sistemas de Gestão da Qualidade). Integração plena aos requisitos ISO 9001, ISO 14001, ISO 45001 e ABNT NBR ISO 37000, assumindo o comando técnico fabril com zero impacto na retaguarda fiscal.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2560320" cy="164592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0E800"/>
                </a:solidFill>
              </a:defRPr>
            </a:pPr>
            <a:r>
              <a:t>ISO 9001:2015</a:t>
            </a:r>
          </a:p>
          <a:p>
            <a:pPr>
              <a:defRPr sz="1100">
                <a:solidFill>
                  <a:srgbClr val="A0A8A4"/>
                </a:solidFill>
              </a:defRPr>
            </a:pPr>
            <a:r>
              <a:t>Qualidade Assegurada no Chão de Fábrica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4297680"/>
            <a:ext cx="2560320" cy="164592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0E800"/>
                </a:solidFill>
              </a:defRPr>
            </a:pPr>
            <a:r>
              <a:t>ISO 14001:2015</a:t>
            </a:r>
          </a:p>
          <a:p>
            <a:pPr>
              <a:defRPr sz="1100">
                <a:solidFill>
                  <a:srgbClr val="A0A8A4"/>
                </a:solidFill>
              </a:defRPr>
            </a:pPr>
            <a:r>
              <a:t>Gestão Ambiental &amp; Eficiência de Sucata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297680"/>
            <a:ext cx="2560320" cy="164592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0E800"/>
                </a:solidFill>
              </a:defRPr>
            </a:pPr>
            <a:r>
              <a:t>ISO 45001:2018</a:t>
            </a:r>
          </a:p>
          <a:p>
            <a:pPr>
              <a:defRPr sz="1100">
                <a:solidFill>
                  <a:srgbClr val="A0A8A4"/>
                </a:solidFill>
              </a:defRPr>
            </a:pPr>
            <a:r>
              <a:t>Saúde &amp; Segurança do Trabalho Ocupacional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4297680"/>
            <a:ext cx="2560320" cy="1645920"/>
          </a:xfrm>
          <a:prstGeom prst="roundRect">
            <a:avLst/>
          </a:prstGeom>
          <a:solidFill>
            <a:srgbClr val="2C3B36"/>
          </a:solidFill>
          <a:ln w="1905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0E800"/>
                </a:solidFill>
              </a:defRPr>
            </a:pPr>
            <a:r>
              <a:t>NBR ISO 37000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Governança Organizacional SIM Consultoria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0A8A4"/>
                </a:solidFill>
              </a:defRPr>
            </a:pPr>
            <a:r>
              <a:t>Grupo Lynx  ✕  SIM Consultoria (18 Anos em Gestão da Qualidade)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A0A8A4"/>
                </a:solidFill>
              </a:defRPr>
            </a:pPr>
            <a:r>
              <a:t>https://lynxems.com.br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0E800"/>
                </a:solidFill>
              </a:defRPr>
            </a:pPr>
            <a: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IPO S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1585570" cy="384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03120" y="292608"/>
            <a:ext cx="2926080" cy="292608"/>
          </a:xfrm>
          <a:prstGeom prst="roundRect">
            <a:avLst/>
          </a:prstGeom>
          <a:solidFill>
            <a:srgbClr val="2A3833"/>
          </a:solidFill>
          <a:ln w="1270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800"/>
                </a:solidFill>
              </a:defRPr>
            </a:pPr>
            <a:r>
              <a:t>ARQUITETURA DE VALOR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2011680" cy="475488"/>
          </a:xfrm>
          <a:prstGeom prst="roundRect">
            <a:avLst/>
          </a:prstGeom>
          <a:solidFill>
            <a:srgbClr val="283631"/>
          </a:solidFill>
          <a:ln w="12700">
            <a:solidFill>
              <a:srgbClr val="556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-consultor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37744"/>
            <a:ext cx="384048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0" y="292608"/>
            <a:ext cx="640080" cy="274320"/>
          </a:xfrm>
          <a:prstGeom prst="roundRect">
            <a:avLst/>
          </a:prstGeom>
          <a:solidFill>
            <a:srgbClr val="E0E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51D1A"/>
                </a:solidFill>
              </a:defRPr>
            </a:pPr>
            <a:r>
              <a:t>18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 Desafio dos ERPs Fiscais vs. A Potência do SINCO</a:t>
            </a:r>
          </a:p>
          <a:p>
            <a:pPr>
              <a:defRPr sz="1200">
                <a:solidFill>
                  <a:srgbClr val="A0A8A4"/>
                </a:solidFill>
              </a:defRPr>
            </a:pPr>
            <a:r>
              <a:t>Sua indústria não precisa trocar o ERP existente: o SINCO assume o comando operacional do chão de fábrica com zero impacto contábil.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5486400" cy="411480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0A8A4"/>
                </a:solidFill>
              </a:defRPr>
            </a:pPr>
            <a:r>
              <a:t>O ERP Corporativo Existente</a:t>
            </a:r>
          </a:p>
          <a:p>
            <a:pPr>
              <a:defRPr sz="1000">
                <a:solidFill>
                  <a:srgbClr val="7A8580"/>
                </a:solidFill>
              </a:defRPr>
            </a:pPr>
            <a:r>
              <a:t>TOTVS • Omie • Sankhya • SAP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Interface complexa e lenta para operadores com luvas ou tablets de chão de fábrica.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Dificuldade extrema para gerenciar estruturas de produto (BOM) em múltiplos subníveis.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Ausência de apontamentos automáticos de corte laser, dobra, solda e tempos de parada.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Desconexão com calibração de instrumentos, gestão de mudanças e auditorias normativas.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486400" cy="4114800"/>
          </a:xfrm>
          <a:prstGeom prst="roundRect">
            <a:avLst/>
          </a:prstGeom>
          <a:solidFill>
            <a:srgbClr val="2C3B36"/>
          </a:solidFill>
          <a:ln w="1905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 SINCO no Coração da Fábrica</a:t>
            </a:r>
          </a:p>
          <a:p>
            <a:pPr>
              <a:defRPr sz="1000" b="1">
                <a:solidFill>
                  <a:srgbClr val="E0E800"/>
                </a:solidFill>
              </a:defRPr>
            </a:pPr>
            <a:r>
              <a:t>Lynx SM  ✕  SIM Consultoria (18 Anos de SGQ)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Integração Bi-direcional Transparente: Consome pedidos/OPs e devolve saldos apontados.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BOM Multinível Completo: Explosão instantânea de árvores até o 10º nível hierárquico.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Apontamentos em Tempo Real: Bipagem ágil por código de barras em cada posto de trabalho.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SGQ Homologado: Rastreabilidade de lotes, inspeções fabris e tratativa 5W2H de RNCs.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0A8A4"/>
                </a:solidFill>
              </a:defRPr>
            </a:pPr>
            <a:r>
              <a:t>Grupo Lynx  ✕  SIM Consultoria (18 Anos em Gestão da Qualidade)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A0A8A4"/>
                </a:solidFill>
              </a:defRPr>
            </a:pPr>
            <a:r>
              <a:t>https://lynxems.com.br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0E800"/>
                </a:solidFill>
              </a:defRPr>
            </a:pPr>
            <a: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IPO S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1585570" cy="384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03120" y="292608"/>
            <a:ext cx="2926080" cy="292608"/>
          </a:xfrm>
          <a:prstGeom prst="roundRect">
            <a:avLst/>
          </a:prstGeom>
          <a:solidFill>
            <a:srgbClr val="2A3833"/>
          </a:solidFill>
          <a:ln w="1270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800"/>
                </a:solidFill>
              </a:defRPr>
            </a:pPr>
            <a:r>
              <a:t>VISIBILIDADE OPERACIONAL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2011680" cy="475488"/>
          </a:xfrm>
          <a:prstGeom prst="roundRect">
            <a:avLst/>
          </a:prstGeom>
          <a:solidFill>
            <a:srgbClr val="283631"/>
          </a:solidFill>
          <a:ln w="12700">
            <a:solidFill>
              <a:srgbClr val="556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-consultor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37744"/>
            <a:ext cx="384048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0" y="292608"/>
            <a:ext cx="640080" cy="274320"/>
          </a:xfrm>
          <a:prstGeom prst="roundRect">
            <a:avLst/>
          </a:prstGeom>
          <a:solidFill>
            <a:srgbClr val="E0E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51D1A"/>
                </a:solidFill>
              </a:defRPr>
            </a:pPr>
            <a:r>
              <a:t>18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Visão 360° da Fábrica em Tempo Real</a:t>
            </a:r>
          </a:p>
          <a:p>
            <a:pPr>
              <a:defRPr sz="1200">
                <a:solidFill>
                  <a:srgbClr val="A0A8A4"/>
                </a:solidFill>
              </a:defRPr>
            </a:pPr>
            <a:r>
              <a:t>Monitore gargalos, produtividade por máquina e evolução de pedidos em um cockpit integrado para gerentes, supervisores e diretoria.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5943600" cy="123444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0E800"/>
                </a:solidFill>
              </a:defRPr>
            </a:pPr>
            <a:r>
              <a:t>OEE  —  Eficiência Global dos Equipamentos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Medição contínua de disponibilidade, performance e índice de qualidade em cada posto de corte, dobra e solda.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5943600" cy="123444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PCP  —  Carga Máquina &amp; Balanceamento Dinâmico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Sequenciamento automático de prioridades na fila de produção, eliminando paradas desnecessárias e gargalos.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5943600" cy="123444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SGQ  —  Rastreabilidade Total com Causa Raiz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Vínculo inviolável entre a chapa de aço, o operador, a máquina e a peça montada final.</a:t>
            </a:r>
          </a:p>
        </p:txBody>
      </p:sp>
      <p:pic>
        <p:nvPicPr>
          <p:cNvPr id="12" name="Picture 11" descr="sinco-dashboard-mock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011680"/>
            <a:ext cx="5029200" cy="280699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0A8A4"/>
                </a:solidFill>
              </a:defRPr>
            </a:pPr>
            <a:r>
              <a:t>Grupo Lynx  ✕  SIM Consultoria (18 Anos em Gestão da Qualidade)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A0A8A4"/>
                </a:solidFill>
              </a:defRPr>
            </a:pPr>
            <a:r>
              <a:t>https://lynxems.com.br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0E800"/>
                </a:solidFill>
              </a:defRPr>
            </a:pPr>
            <a: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IPO S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1585570" cy="384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03120" y="292608"/>
            <a:ext cx="2926080" cy="292608"/>
          </a:xfrm>
          <a:prstGeom prst="roundRect">
            <a:avLst/>
          </a:prstGeom>
          <a:solidFill>
            <a:srgbClr val="2A3833"/>
          </a:solidFill>
          <a:ln w="1270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800"/>
                </a:solidFill>
              </a:defRPr>
            </a:pPr>
            <a:r>
              <a:t>MÓDULO OPERACIONAL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2011680" cy="475488"/>
          </a:xfrm>
          <a:prstGeom prst="roundRect">
            <a:avLst/>
          </a:prstGeom>
          <a:solidFill>
            <a:srgbClr val="283631"/>
          </a:solidFill>
          <a:ln w="12700">
            <a:solidFill>
              <a:srgbClr val="556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-consultor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37744"/>
            <a:ext cx="384048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0" y="292608"/>
            <a:ext cx="640080" cy="274320"/>
          </a:xfrm>
          <a:prstGeom prst="roundRect">
            <a:avLst/>
          </a:prstGeom>
          <a:solidFill>
            <a:srgbClr val="E0E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51D1A"/>
                </a:solidFill>
              </a:defRPr>
            </a:pPr>
            <a:r>
              <a:t>18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PCP Dinâmico &amp; Apontamento no Posto de Trabalho</a:t>
            </a:r>
          </a:p>
          <a:p>
            <a:pPr>
              <a:defRPr sz="1200">
                <a:solidFill>
                  <a:srgbClr val="A0A8A4"/>
                </a:solidFill>
              </a:defRPr>
            </a:pPr>
            <a:r>
              <a:t>Elimine planilhas paralelas e ordens de papel. Dê ao operador uma interface tátil, robusta e rápida para apontar cada etapa do produto.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6217920" cy="4114800"/>
          </a:xfrm>
          <a:prstGeom prst="roundRect">
            <a:avLst/>
          </a:prstGeom>
          <a:solidFill>
            <a:srgbClr val="2C3B36"/>
          </a:solidFill>
          <a:ln w="1905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0E800"/>
                </a:solidFill>
              </a:defRPr>
            </a:pPr>
            <a:r>
              <a:t>Planejamento e Controle de Produção 4.0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Leitura Instantânea de Códigos de Barra / QR: Abertura e finalização de operações em 2 segundos.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Fila de Prioridades Inteligente: Apresenta aos operadores a próxima peça conforme prazos e metas.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Apontamentos Particionados: Registro de quantidades aprovadas, retrabalho e peças descartadas.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Gestão de Paradas de Máquina: Registro imediato de setup, manutenção ou falta de insumo/gás.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Touch Targets Ergonômicos: Botões dimensionados (mínimo 36x36px) para luvas de proteção.</a:t>
            </a:r>
          </a:p>
        </p:txBody>
      </p:sp>
      <p:pic>
        <p:nvPicPr>
          <p:cNvPr id="10" name="Picture 9" descr="sinco-pcp-shopflo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011680"/>
            <a:ext cx="4754880" cy="26538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0A8A4"/>
                </a:solidFill>
              </a:defRPr>
            </a:pPr>
            <a:r>
              <a:t>Grupo Lynx  ✕  SIM Consultoria (18 Anos em Gestão da Qualidade)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A0A8A4"/>
                </a:solidFill>
              </a:defRPr>
            </a:pPr>
            <a:r>
              <a:t>https://lynxems.com.br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0E800"/>
                </a:solidFill>
              </a:defRPr>
            </a:pPr>
            <a: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IPO S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1585570" cy="384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03120" y="292608"/>
            <a:ext cx="2926080" cy="292608"/>
          </a:xfrm>
          <a:prstGeom prst="roundRect">
            <a:avLst/>
          </a:prstGeom>
          <a:solidFill>
            <a:srgbClr val="2A3833"/>
          </a:solidFill>
          <a:ln w="1270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800"/>
                </a:solidFill>
              </a:defRPr>
            </a:pPr>
            <a:r>
              <a:t>ENGENHARIA DE PRODUTO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2011680" cy="475488"/>
          </a:xfrm>
          <a:prstGeom prst="roundRect">
            <a:avLst/>
          </a:prstGeom>
          <a:solidFill>
            <a:srgbClr val="283631"/>
          </a:solidFill>
          <a:ln w="12700">
            <a:solidFill>
              <a:srgbClr val="556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-consultor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37744"/>
            <a:ext cx="384048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0" y="292608"/>
            <a:ext cx="640080" cy="274320"/>
          </a:xfrm>
          <a:prstGeom prst="roundRect">
            <a:avLst/>
          </a:prstGeom>
          <a:solidFill>
            <a:srgbClr val="E0E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51D1A"/>
                </a:solidFill>
              </a:defRPr>
            </a:pPr>
            <a:r>
              <a:t>18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Engenharia Fina &amp; Estrutura de Produto (BOM)</a:t>
            </a:r>
          </a:p>
          <a:p>
            <a:pPr>
              <a:defRPr sz="1200">
                <a:solidFill>
                  <a:srgbClr val="A0A8A4"/>
                </a:solidFill>
              </a:defRPr>
            </a:pPr>
            <a:r>
              <a:t>Da concepção do projeto à liberação para a fábrica: controle de versões, consumo de chapas e tempos-padrão integrados.</a:t>
            </a:r>
          </a:p>
        </p:txBody>
      </p:sp>
      <p:pic>
        <p:nvPicPr>
          <p:cNvPr id="9" name="Picture 8" descr="sinco-eng-bo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11680"/>
            <a:ext cx="4754880" cy="265388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0" y="2011680"/>
            <a:ext cx="6217920" cy="4114800"/>
          </a:xfrm>
          <a:prstGeom prst="roundRect">
            <a:avLst/>
          </a:prstGeom>
          <a:solidFill>
            <a:srgbClr val="2C3B36"/>
          </a:solidFill>
          <a:ln w="1905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0E800"/>
                </a:solidFill>
              </a:defRPr>
            </a:pPr>
            <a:r>
              <a:t>Árvore de Produto &amp; Roteiros Técnicos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Explosão em Cascata até 10 Níveis: Visualização clara de subconjuntos soldados e peças usinadas.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Cálculo Automático de Consumo de Aço: Estimativa de chapas, retalhos reaproveitáveis e custo de MP.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Roteiros de Fabricação Padronizados: Sequência técnica estrita com tempos padrão por centro fabril.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Gestão de Versões e Histórico Técnico: Controle rigoroso de revisões com aprovação digital.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Dossiês Técnicos Instantâneos: Fichas de processo completas para operadores e auditorias com 1 clique.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0A8A4"/>
                </a:solidFill>
              </a:defRPr>
            </a:pPr>
            <a:r>
              <a:t>Grupo Lynx  ✕  SIM Consultoria (18 Anos em Gestão da Qualidade)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A0A8A4"/>
                </a:solidFill>
              </a:defRPr>
            </a:pPr>
            <a:r>
              <a:t>https://lynxems.com.br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0E800"/>
                </a:solidFill>
              </a:defRPr>
            </a:pPr>
            <a: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IPO S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1585570" cy="384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03120" y="292608"/>
            <a:ext cx="2926080" cy="292608"/>
          </a:xfrm>
          <a:prstGeom prst="roundRect">
            <a:avLst/>
          </a:prstGeom>
          <a:solidFill>
            <a:srgbClr val="2A3833"/>
          </a:solidFill>
          <a:ln w="1270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800"/>
                </a:solidFill>
              </a:defRPr>
            </a:pPr>
            <a:r>
              <a:t>GOVERNANÇA &amp; ESTRATÉGIA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2011680" cy="475488"/>
          </a:xfrm>
          <a:prstGeom prst="roundRect">
            <a:avLst/>
          </a:prstGeom>
          <a:solidFill>
            <a:srgbClr val="283631"/>
          </a:solidFill>
          <a:ln w="12700">
            <a:solidFill>
              <a:srgbClr val="556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-consultor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37744"/>
            <a:ext cx="384048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0" y="292608"/>
            <a:ext cx="640080" cy="274320"/>
          </a:xfrm>
          <a:prstGeom prst="roundRect">
            <a:avLst/>
          </a:prstGeom>
          <a:solidFill>
            <a:srgbClr val="E0E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51D1A"/>
                </a:solidFill>
              </a:defRPr>
            </a:pPr>
            <a:r>
              <a:t>18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Governança Organizacional (NBR ISO 37000) &amp; Direcionamento Estratégico</a:t>
            </a:r>
          </a:p>
          <a:p>
            <a:pPr>
              <a:defRPr sz="1200">
                <a:solidFill>
                  <a:srgbClr val="A0A8A4"/>
                </a:solidFill>
              </a:defRPr>
            </a:pPr>
            <a:r>
              <a:t>Alinhamento estruturado entre a governança executiva, a liderança industrial e a operação diária através da metodologia SIM Consultoria.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3611880" cy="411480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800"/>
                </a:solidFill>
              </a:defRPr>
            </a:pPr>
            <a:r>
              <a:t>ABNT NBR ISO 37000:2021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Governança das Organizações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Estrutura formal de prestação de contas (accountability) e transparência.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Conduta ética corporativa e conformidade legal e regulatória (compliance).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Geração de valor sustentável aos acionistas, clientes e sociedade.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Mecanismos de supervisão e auditoria interna preventiva.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011680"/>
            <a:ext cx="3611880" cy="411480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800"/>
                </a:solidFill>
              </a:defRPr>
            </a:pPr>
            <a:r>
              <a:t>Contexto &amp; Análise SWOT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Direcionamento Estratégico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Mapeamento do contexto interno e externo da indústria.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Matriz SWOT / FOFA correlacionando forças fabris e ameaças de mercado.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Desdobramento formal de Missão, Visão e Valores para a fábrica.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Conexão direta dos direcionadores às metas de capacidade produtiva.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611880" cy="4114800"/>
          </a:xfrm>
          <a:prstGeom prst="roundRect">
            <a:avLst/>
          </a:prstGeom>
          <a:solidFill>
            <a:srgbClr val="2C3B36"/>
          </a:solidFill>
          <a:ln w="1905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800"/>
                </a:solidFill>
              </a:defRPr>
            </a:pPr>
            <a:r>
              <a:t>Partes Interessadas Pertinentes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Engajamento de Stakeholders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Clientes: Rigor técnico, pontualidade de entrega (OTIF) e qualidade.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Colaboradores: Segurança no trabalho, capacitação e ergonomia.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Fornecedores &amp; Parceiros: Homologação e previsibilidade de demanda.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Comunidade &amp; Órgãos: Conformidade socioambiental e licenças ativas.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0A8A4"/>
                </a:solidFill>
              </a:defRPr>
            </a:pPr>
            <a:r>
              <a:t>Grupo Lynx  ✕  SIM Consultoria (18 Anos em Gestão da Qualidade)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A0A8A4"/>
                </a:solidFill>
              </a:defRPr>
            </a:pPr>
            <a:r>
              <a:t>https://lynxems.com.br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0E800"/>
                </a:solidFill>
              </a:defRPr>
            </a:pPr>
            <a: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IPO S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1585570" cy="384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03120" y="292608"/>
            <a:ext cx="2926080" cy="292608"/>
          </a:xfrm>
          <a:prstGeom prst="roundRect">
            <a:avLst/>
          </a:prstGeom>
          <a:solidFill>
            <a:srgbClr val="2A3833"/>
          </a:solidFill>
          <a:ln w="1270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800"/>
                </a:solidFill>
              </a:defRPr>
            </a:pPr>
            <a:r>
              <a:t>SISTEMA DE GESTÃO INTEGRADO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2011680" cy="475488"/>
          </a:xfrm>
          <a:prstGeom prst="roundRect">
            <a:avLst/>
          </a:prstGeom>
          <a:solidFill>
            <a:srgbClr val="283631"/>
          </a:solidFill>
          <a:ln w="12700">
            <a:solidFill>
              <a:srgbClr val="556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-consultor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37744"/>
            <a:ext cx="384048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0" y="292608"/>
            <a:ext cx="640080" cy="274320"/>
          </a:xfrm>
          <a:prstGeom prst="roundRect">
            <a:avLst/>
          </a:prstGeom>
          <a:solidFill>
            <a:srgbClr val="E0E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51D1A"/>
                </a:solidFill>
              </a:defRPr>
            </a:pPr>
            <a:r>
              <a:t>18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Atendimento Integral às Normas ISO 9001, 14001 e 45001</a:t>
            </a:r>
          </a:p>
          <a:p>
            <a:pPr>
              <a:defRPr sz="1200">
                <a:solidFill>
                  <a:srgbClr val="A0A8A4"/>
                </a:solidFill>
              </a:defRPr>
            </a:pPr>
            <a:r>
              <a:t>A suíte SINCO foi desenhada para cumprir ponta a ponta os requisitos normativos internacionais, garantindo auditorias seguras e conformidade total.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3611880" cy="411480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E800"/>
                </a:solidFill>
              </a:defRPr>
            </a:pPr>
            <a:r>
              <a:t>ISO 9001:2015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Sistema de Gestão da Qualidade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Abordagem por processos estruturada com ciclo PDCA contínuo.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Foco intransigente na satisfação do cliente e especificações de engenharia.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Rastreabilidade inviolável de lotes de matéria-prima até a expedição.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Calibração de instrumentos de medição e tratativa de RNCs com 5W2H.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011680"/>
            <a:ext cx="3611880" cy="411480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ISO 14001:2015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Sistema de Gestão Ambiental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Mapeamento e controle dos aspectos e impactos ambientais no chão de fábrica.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Gestão inteligente de retalhos metálicos e reaproveitamento de sobras.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Controle rigoroso de descarte de óleo solúvel, efluentes e químicos de pintura.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Eficiência energética de compressores, pontes rolantes e corte laser CNC.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611880" cy="411480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ISO 45001:2018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Saúde e Segurança Ocupacional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Identificação contínua de perigos e mitigação de riscos operacionais.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Conformidade NR-12 em prensas mecânicas, dobradeiras e guilhotinas.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Controle de uso e registro de EPIs/EPCs por centro de trabalho fabril.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Ergonomia em postos de solda, caldeiraria pesada e bancadas de montagem.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0A8A4"/>
                </a:solidFill>
              </a:defRPr>
            </a:pPr>
            <a:r>
              <a:t>Grupo Lynx  ✕  SIM Consultoria (18 Anos em Gestão da Qualidade)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A0A8A4"/>
                </a:solidFill>
              </a:defRPr>
            </a:pPr>
            <a:r>
              <a:t>https://lynxems.com.br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0E800"/>
                </a:solidFill>
              </a:defRPr>
            </a:pPr>
            <a: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IPO S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1585570" cy="384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03120" y="292608"/>
            <a:ext cx="2926080" cy="292608"/>
          </a:xfrm>
          <a:prstGeom prst="roundRect">
            <a:avLst/>
          </a:prstGeom>
          <a:solidFill>
            <a:srgbClr val="2A3833"/>
          </a:solidFill>
          <a:ln w="1270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800"/>
                </a:solidFill>
              </a:defRPr>
            </a:pPr>
            <a:r>
              <a:t>PREVENÇÃO &amp; RESILIÊNCIA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2011680" cy="475488"/>
          </a:xfrm>
          <a:prstGeom prst="roundRect">
            <a:avLst/>
          </a:prstGeom>
          <a:solidFill>
            <a:srgbClr val="283631"/>
          </a:solidFill>
          <a:ln w="12700">
            <a:solidFill>
              <a:srgbClr val="556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-consultor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37744"/>
            <a:ext cx="384048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0" y="292608"/>
            <a:ext cx="640080" cy="274320"/>
          </a:xfrm>
          <a:prstGeom prst="roundRect">
            <a:avLst/>
          </a:prstGeom>
          <a:solidFill>
            <a:srgbClr val="E0E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51D1A"/>
                </a:solidFill>
              </a:defRPr>
            </a:pPr>
            <a:r>
              <a:t>18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Análise de Riscos Operacionais/Estratégicos &amp; Gestão de Mudanças (MOC)</a:t>
            </a:r>
          </a:p>
          <a:p>
            <a:pPr>
              <a:defRPr sz="1200">
                <a:solidFill>
                  <a:srgbClr val="A0A8A4"/>
                </a:solidFill>
              </a:defRPr>
            </a:pPr>
            <a:r>
              <a:t>Previsibilidade máxima: proteja a rentabilidade da fábrica mapeando ameaças com antecedência e controlando alterações de processo de forma auditável.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5486400" cy="4114800"/>
          </a:xfrm>
          <a:prstGeom prst="roundRect">
            <a:avLst/>
          </a:prstGeom>
          <a:solidFill>
            <a:srgbClr val="2C3B36"/>
          </a:solidFill>
          <a:ln w="1905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0E800"/>
                </a:solidFill>
              </a:defRPr>
            </a:pPr>
            <a:r>
              <a:t>Gestão de Riscos (ISO 31000 / FMEA)</a:t>
            </a:r>
          </a:p>
          <a:p>
            <a:pPr>
              <a:defRPr sz="1100">
                <a:solidFill>
                  <a:srgbClr val="A0A8A4"/>
                </a:solidFill>
              </a:defRPr>
            </a:pPr>
            <a:r>
              <a:t>Avaliação proativa de severidade, ocorrência e detecção.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Riscos Estratégicos: Volatilidade do preço do aço, perda de fornecedor-chave e gargalos de capacidade instalada.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Riscos Operacionais: Quebra imprevista de corte laser, desvios de solda, desgaste prematuro de ferramentas e acidentes.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FMEA de Processo Integrado: Cálculo automático do Número de Prioridade de Risco (NPR) para cada operação.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Planos de Mitigação Obrigatórios: Ações de contingência ativadas automaticamente ao atingir limites de alerta.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486400" cy="411480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Gestão de Mudanças (MOC - Item 6.3)</a:t>
            </a:r>
          </a:p>
          <a:p>
            <a:pPr>
              <a:defRPr sz="1100">
                <a:solidFill>
                  <a:srgbClr val="A0A8A4"/>
                </a:solidFill>
              </a:defRPr>
            </a:pPr>
            <a:r>
              <a:t>Controle rigoroso de alterações de processo, maquinário e desenho.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Fluxo Formal de Aprovação Técnica: Engenharia, PCP, Qualidade e Segurança antes da alteração em chão de fábrica.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Avaliação de Impactos Múltiplos: Análise de efeitos em qualidade final, prazos acordados, custos e ergonomia.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Treinamento Pré-Operação: Comprovação de qualificação do operador antes da liberação de lote em novo maquinário.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Trilha de Auditoria Digital: Registro perene de proponente, pareceres técnicos, data de vigência e lote de corte inicial.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0A8A4"/>
                </a:solidFill>
              </a:defRPr>
            </a:pPr>
            <a:r>
              <a:t>Grupo Lynx  ✕  SIM Consultoria (18 Anos em Gestão da Qualidade)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A0A8A4"/>
                </a:solidFill>
              </a:defRPr>
            </a:pPr>
            <a:r>
              <a:t>https://lynxems.com.br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0E800"/>
                </a:solidFill>
              </a:defRPr>
            </a:pPr>
            <a: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IPO S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1585570" cy="384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03120" y="292608"/>
            <a:ext cx="2926080" cy="292608"/>
          </a:xfrm>
          <a:prstGeom prst="roundRect">
            <a:avLst/>
          </a:prstGeom>
          <a:solidFill>
            <a:srgbClr val="2A3833"/>
          </a:solidFill>
          <a:ln w="1270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800"/>
                </a:solidFill>
              </a:defRPr>
            </a:pPr>
            <a:r>
              <a:t>PADRONIZAÇÃO &amp; DESEMPENHO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2011680" cy="475488"/>
          </a:xfrm>
          <a:prstGeom prst="roundRect">
            <a:avLst/>
          </a:prstGeom>
          <a:solidFill>
            <a:srgbClr val="283631"/>
          </a:solidFill>
          <a:ln w="12700">
            <a:solidFill>
              <a:srgbClr val="556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-consultor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37744"/>
            <a:ext cx="384048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0" y="292608"/>
            <a:ext cx="640080" cy="274320"/>
          </a:xfrm>
          <a:prstGeom prst="roundRect">
            <a:avLst/>
          </a:prstGeom>
          <a:solidFill>
            <a:srgbClr val="E0E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51D1A"/>
                </a:solidFill>
              </a:defRPr>
            </a:pPr>
            <a:r>
              <a:t>18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Gestão Documental Rigorosa &amp; Objetivos, Metas e Indicadores</a:t>
            </a:r>
          </a:p>
          <a:p>
            <a:pPr>
              <a:defRPr sz="1200">
                <a:solidFill>
                  <a:srgbClr val="A0A8A4"/>
                </a:solidFill>
              </a:defRPr>
            </a:pPr>
            <a:r>
              <a:t>Elimine o risco de operação com desenhos obsoletos e conecte os objetivos estratégicos da diretoria aos indicadores do operador na bancada.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5486400" cy="411480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Gestão Documental (Item 7.5 ISO)</a:t>
            </a:r>
          </a:p>
          <a:p>
            <a:pPr>
              <a:defRPr sz="1100">
                <a:solidFill>
                  <a:srgbClr val="A0A8A4"/>
                </a:solidFill>
              </a:defRPr>
            </a:pPr>
            <a:r>
              <a:t>Procedimentos, Instruções de Trabalho (ITs) e Desenhos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Eliminação de Desenhos Obsoletos: Operador visualiza exclusivamente a última revisão técnica liberada.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Aprovação Multinível Digital: Trilha eletrônica com assinatura, data, hora e justificativa da revisão.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Distribuição Eletrônica Segura: Elimina impressões paralelas e pastas de papel extraviadas na produção.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Prontidão para Auditorias ISO: Localização de POPs, fichas e laudos técnicos em menos de 10 segundos.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486400" cy="4114800"/>
          </a:xfrm>
          <a:prstGeom prst="roundRect">
            <a:avLst/>
          </a:prstGeom>
          <a:solidFill>
            <a:srgbClr val="2C3B36"/>
          </a:solidFill>
          <a:ln w="1905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0E800"/>
                </a:solidFill>
              </a:defRPr>
            </a:pPr>
            <a:r>
              <a:t>Gestão de Metas &amp; Indicadores (Item 6.2)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Desdobramento da Política da Qualidade com Planos 5W2H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KPIs Industriais em Tempo Real: OEE por centro de trabalho, índice de refugo/scrap metálico e retrabalho.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Indicadores de Cliente: Pontualidade de entrega OTIF (On-Time In-Full) e nível de satisfação.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Metas Ambientais e Segurança: Taxa de frequência de acidentes (zero), geração de resíduos e consumo.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✓  Planos de Ação 5W2H Vinculados: Tratamento imediato de desvios com responsável, prazo e custo alocados.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0A8A4"/>
                </a:solidFill>
              </a:defRPr>
            </a:pPr>
            <a:r>
              <a:t>Grupo Lynx  ✕  SIM Consultoria (18 Anos em Gestão da Qualidade)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A0A8A4"/>
                </a:solidFill>
              </a:defRPr>
            </a:pPr>
            <a:r>
              <a:t>https://lynxems.com.br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0E800"/>
                </a:solidFill>
              </a:defRPr>
            </a:pPr>
            <a: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IPO S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1585570" cy="384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03120" y="292608"/>
            <a:ext cx="2926080" cy="292608"/>
          </a:xfrm>
          <a:prstGeom prst="roundRect">
            <a:avLst/>
          </a:prstGeom>
          <a:solidFill>
            <a:srgbClr val="2A3833"/>
          </a:solidFill>
          <a:ln w="1270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800"/>
                </a:solidFill>
              </a:defRPr>
            </a:pPr>
            <a:r>
              <a:t>CONTROLE NO POSTO FABRIL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2011680" cy="475488"/>
          </a:xfrm>
          <a:prstGeom prst="roundRect">
            <a:avLst/>
          </a:prstGeom>
          <a:solidFill>
            <a:srgbClr val="283631"/>
          </a:solidFill>
          <a:ln w="12700">
            <a:solidFill>
              <a:srgbClr val="556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-consultor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37744"/>
            <a:ext cx="384048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0" y="292608"/>
            <a:ext cx="640080" cy="274320"/>
          </a:xfrm>
          <a:prstGeom prst="roundRect">
            <a:avLst/>
          </a:prstGeom>
          <a:solidFill>
            <a:srgbClr val="E0E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51D1A"/>
                </a:solidFill>
              </a:defRPr>
            </a:pPr>
            <a:r>
              <a:t>18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Inspeções de Qualidade no Chão de Fábrica nas Etapas Críticas</a:t>
            </a:r>
          </a:p>
          <a:p>
            <a:pPr>
              <a:defRPr sz="1200">
                <a:solidFill>
                  <a:srgbClr val="A0A8A4"/>
                </a:solidFill>
              </a:defRPr>
            </a:pPr>
            <a:r>
              <a:t>Checklists digitais, bloqueios preventivos de lote e rastreabilidade total do recebimento da matéria-prima até o embarque final.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2697480" cy="310896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800"/>
                </a:solidFill>
              </a:defRPr>
            </a:pPr>
            <a:r>
              <a:t>ETAPA 01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Inspeção de Recebimento</a:t>
            </a:r>
          </a:p>
          <a:p>
            <a:pPr>
              <a:defRPr sz="1050">
                <a:solidFill>
                  <a:srgbClr val="D8DCDA"/>
                </a:solidFill>
              </a:defRPr>
            </a:pPr>
            <a:r>
              <a:t>Validação na chegada da chapa: conferência de espessura com micrômetro, aspecto visual e certificado de usina siderúrgica.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011680"/>
            <a:ext cx="2697480" cy="3108960"/>
          </a:xfrm>
          <a:prstGeom prst="roundRect">
            <a:avLst/>
          </a:prstGeom>
          <a:solidFill>
            <a:srgbClr val="2C3B36"/>
          </a:solidFill>
          <a:ln w="1905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800"/>
                </a:solidFill>
              </a:defRPr>
            </a:pPr>
            <a:r>
              <a:t>ETAPA 02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1ª Peça Aprovada (Setup)</a:t>
            </a:r>
          </a:p>
          <a:p>
            <a:pPr>
              <a:defRPr sz="1050">
                <a:solidFill>
                  <a:srgbClr val="D8DCDA"/>
                </a:solidFill>
              </a:defRPr>
            </a:pPr>
            <a:r>
              <a:t>Liberação formal da máquina (laser CNC, prensa, dobra) pelo inspetor SGQ antes de autorizar a fabricação seriada.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011680"/>
            <a:ext cx="2697480" cy="310896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800"/>
                </a:solidFill>
              </a:defRPr>
            </a:pPr>
            <a:r>
              <a:t>ETAPA 03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Inspeção em Processo</a:t>
            </a:r>
          </a:p>
          <a:p>
            <a:pPr>
              <a:defRPr sz="1050">
                <a:solidFill>
                  <a:srgbClr val="D8DCDA"/>
                </a:solidFill>
              </a:defRPr>
            </a:pPr>
            <a:r>
              <a:t>Auto-inspeção periódica do operador com gabaritos dimensionais, ensaio visual de solda e controle de esquadro.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011680"/>
            <a:ext cx="2697480" cy="310896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800"/>
                </a:solidFill>
              </a:defRPr>
            </a:pPr>
            <a:r>
              <a:t>ETAPA 04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Inspeção Final &amp; Expedição</a:t>
            </a:r>
          </a:p>
          <a:p>
            <a:pPr>
              <a:defRPr sz="1050">
                <a:solidFill>
                  <a:srgbClr val="D8DCDA"/>
                </a:solidFill>
              </a:defRPr>
            </a:pPr>
            <a:r>
              <a:t>Verificação funcional completa, espessura de pintura pó, embalagem técnica e emissão de laudo com QR Code de lote.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2C3B36"/>
          </a:solidFill>
          <a:ln w="1905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RNC 5W2H &amp; BLOQUEIO PREVENTIVO:  Qualquer não-conformidade bloqueia instantaneamente a passagem da peça para o próximo posto, notificando a Engenharia e gerando reposição prioritária da matéria-prima.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0A8A4"/>
                </a:solidFill>
              </a:defRPr>
            </a:pPr>
            <a:r>
              <a:t>Grupo Lynx  ✕  SIM Consultoria (18 Anos em Gestão da Qualidade)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A0A8A4"/>
                </a:solidFill>
              </a:defRPr>
            </a:pPr>
            <a:r>
              <a:t>https://lynxems.com.br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0E800"/>
                </a:solidFill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IPO S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1585570" cy="384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03120" y="292608"/>
            <a:ext cx="2926080" cy="292608"/>
          </a:xfrm>
          <a:prstGeom prst="roundRect">
            <a:avLst/>
          </a:prstGeom>
          <a:solidFill>
            <a:srgbClr val="2A3833"/>
          </a:solidFill>
          <a:ln w="1270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800"/>
                </a:solidFill>
              </a:defRPr>
            </a:pPr>
            <a:r>
              <a:t>INTELIGÊNCIA ARTIFICIAL 4.0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2011680" cy="475488"/>
          </a:xfrm>
          <a:prstGeom prst="roundRect">
            <a:avLst/>
          </a:prstGeom>
          <a:solidFill>
            <a:srgbClr val="283631"/>
          </a:solidFill>
          <a:ln w="12700">
            <a:solidFill>
              <a:srgbClr val="556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-consultor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37744"/>
            <a:ext cx="384048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0" y="292608"/>
            <a:ext cx="640080" cy="274320"/>
          </a:xfrm>
          <a:prstGeom prst="roundRect">
            <a:avLst/>
          </a:prstGeom>
          <a:solidFill>
            <a:srgbClr val="E0E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51D1A"/>
                </a:solidFill>
              </a:defRPr>
            </a:pPr>
            <a:r>
              <a:t>18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IA Industrial Hermes &amp; OCR de Desenhos Técnicos</a:t>
            </a:r>
          </a:p>
          <a:p>
            <a:pPr>
              <a:defRPr sz="1200">
                <a:solidFill>
                  <a:srgbClr val="A0A8A4"/>
                </a:solidFill>
              </a:defRPr>
            </a:pPr>
            <a:r>
              <a:t>O agente neural que lê especificações em PDF, imagens e desenhos CAD, extraindo parâmetros de engenharia de forma 100% autônoma.</a:t>
            </a:r>
          </a:p>
        </p:txBody>
      </p:sp>
      <p:pic>
        <p:nvPicPr>
          <p:cNvPr id="9" name="Picture 8" descr="sinco-ai-herm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11680"/>
            <a:ext cx="4754880" cy="265388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0" y="2011680"/>
            <a:ext cx="6217920" cy="4114800"/>
          </a:xfrm>
          <a:prstGeom prst="roundRect">
            <a:avLst/>
          </a:prstGeom>
          <a:solidFill>
            <a:srgbClr val="2C3B36"/>
          </a:solidFill>
          <a:ln w="1905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0E800"/>
                </a:solidFill>
              </a:defRPr>
            </a:pPr>
            <a:r>
              <a:t>Automação Cognitiva de Engenharia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Extração Automática de Cotas e Tolerâncias: Leitura de espessuras de chapa, tipo de liga e acabamentos.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Eliminação de Digitação Manual: Converte desenhos de clientes diretamente em itens cadastrados no sistema.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Padrões Geométricos para Nesting: Identifica peças para corte laser CNC e estima melhor aproveitamento.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Assistente Virtual de Fábrica: Responde dúvidas técnicas sobre roteiros de fabricação e lead-times fabris.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95% de Automação de Entrada: Libera engenheiros da rotina maçante de cadastro para focarem em inovação.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0A8A4"/>
                </a:solidFill>
              </a:defRPr>
            </a:pPr>
            <a:r>
              <a:t>Grupo Lynx  ✕  SIM Consultoria (18 Anos em Gestão da Qualidade)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A0A8A4"/>
                </a:solidFill>
              </a:defRPr>
            </a:pPr>
            <a:r>
              <a:t>https://lynxems.com.br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0E800"/>
                </a:solidFill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IPO S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1585570" cy="384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03120" y="292608"/>
            <a:ext cx="2926080" cy="292608"/>
          </a:xfrm>
          <a:prstGeom prst="roundRect">
            <a:avLst/>
          </a:prstGeom>
          <a:solidFill>
            <a:srgbClr val="2A3833"/>
          </a:solidFill>
          <a:ln w="1270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800"/>
                </a:solidFill>
              </a:defRPr>
            </a:pPr>
            <a:r>
              <a:t>CADEIA DE SUPRIMENTOS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2011680" cy="475488"/>
          </a:xfrm>
          <a:prstGeom prst="roundRect">
            <a:avLst/>
          </a:prstGeom>
          <a:solidFill>
            <a:srgbClr val="283631"/>
          </a:solidFill>
          <a:ln w="12700">
            <a:solidFill>
              <a:srgbClr val="556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-consultor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37744"/>
            <a:ext cx="384048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0" y="292608"/>
            <a:ext cx="640080" cy="274320"/>
          </a:xfrm>
          <a:prstGeom prst="roundRect">
            <a:avLst/>
          </a:prstGeom>
          <a:solidFill>
            <a:srgbClr val="E0E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51D1A"/>
                </a:solidFill>
              </a:defRPr>
            </a:pPr>
            <a:r>
              <a:t>18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Logística Integrada, Expedição &amp; VMI (Vendor Managed Inventory)</a:t>
            </a:r>
          </a:p>
          <a:p>
            <a:pPr>
              <a:defRPr sz="1200">
                <a:solidFill>
                  <a:srgbClr val="A0A8A4"/>
                </a:solidFill>
              </a:defRPr>
            </a:pPr>
            <a:r>
              <a:t>Controle ponta a ponta desde a conferência digital no carregamento até a gestão de estoques consignados nos seus clientes estratégicos.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6217920" cy="4114800"/>
          </a:xfrm>
          <a:prstGeom prst="roundRect">
            <a:avLst/>
          </a:prstGeom>
          <a:solidFill>
            <a:srgbClr val="2C3B36"/>
          </a:solidFill>
          <a:ln w="1905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0E800"/>
                </a:solidFill>
              </a:defRPr>
            </a:pPr>
            <a:r>
              <a:t>Expedição Conectada &amp; Estoque Parceiro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VMI (Vendor Managed Inventory): Visão em tempo real do nível de consumo e reposição na planta do cliente.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Romaneios de Carga Inteligentes: Cálculo automático de pesos, volumes e cubagem de transporte.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Conferência Digital por Código de Barras: Validação cega na doca que impede o envio de itens trocados.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Rastreabilidade de Embarque: Vinculação direta de nota fiscal, motorista, placa e comprovante digital.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Zero Divergência de Entrega: Elimina devoluções e despesas com frete reverso por erro de separação.</a:t>
            </a:r>
          </a:p>
        </p:txBody>
      </p:sp>
      <p:pic>
        <p:nvPicPr>
          <p:cNvPr id="10" name="Picture 9" descr="sinco-logistics-vm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011680"/>
            <a:ext cx="4754880" cy="26538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0A8A4"/>
                </a:solidFill>
              </a:defRPr>
            </a:pPr>
            <a:r>
              <a:t>Grupo Lynx  ✕  SIM Consultoria (18 Anos em Gestão da Qualidade)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A0A8A4"/>
                </a:solidFill>
              </a:defRPr>
            </a:pPr>
            <a:r>
              <a:t>https://lynxems.com.br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0E800"/>
                </a:solidFill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IPO S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1585570" cy="384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03120" y="292608"/>
            <a:ext cx="2926080" cy="292608"/>
          </a:xfrm>
          <a:prstGeom prst="roundRect">
            <a:avLst/>
          </a:prstGeom>
          <a:solidFill>
            <a:srgbClr val="2A3833"/>
          </a:solidFill>
          <a:ln w="1270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800"/>
                </a:solidFill>
              </a:defRPr>
            </a:pPr>
            <a:r>
              <a:t>VALIDAÇÃO EM CAMPO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2011680" cy="475488"/>
          </a:xfrm>
          <a:prstGeom prst="roundRect">
            <a:avLst/>
          </a:prstGeom>
          <a:solidFill>
            <a:srgbClr val="283631"/>
          </a:solidFill>
          <a:ln w="12700">
            <a:solidFill>
              <a:srgbClr val="556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-consultor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37744"/>
            <a:ext cx="384048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0" y="292608"/>
            <a:ext cx="640080" cy="274320"/>
          </a:xfrm>
          <a:prstGeom prst="roundRect">
            <a:avLst/>
          </a:prstGeom>
          <a:solidFill>
            <a:srgbClr val="E0E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51D1A"/>
                </a:solidFill>
              </a:defRPr>
            </a:pPr>
            <a:r>
              <a:t>18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Grandes Indústrias que Confiam no Ecossistema SINCO</a:t>
            </a:r>
          </a:p>
          <a:p>
            <a:pPr>
              <a:defRPr sz="1200">
                <a:solidFill>
                  <a:srgbClr val="A0A8A4"/>
                </a:solidFill>
              </a:defRPr>
            </a:pPr>
            <a:r>
              <a:t>A tecnologia que roda diariamente em grandes operações do setor elétrico, caldeiraria pesada, foodservice e instalações prediais.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3611880" cy="411480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  <a:br/>
            <a:br/>
            <a:br/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AMC Soluções em Energia</a:t>
            </a:r>
          </a:p>
          <a:p>
            <a:pPr>
              <a:defRPr sz="1100" b="1">
                <a:solidFill>
                  <a:srgbClr val="E0E800"/>
                </a:solidFill>
              </a:defRPr>
            </a:pPr>
            <a:r>
              <a:t>Subestações até 500kV &amp; Eletrocentros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Alta tensão, skids móveis até 230kV e cubículos Schneider Electric SM6.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3063240" cy="100584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lient-amc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286000"/>
            <a:ext cx="1637211" cy="7315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51960" y="2011680"/>
            <a:ext cx="3611880" cy="411480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  <a:br/>
            <a:br/>
            <a:br/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Alfatec Cozinhas Profissionais</a:t>
            </a:r>
          </a:p>
          <a:p>
            <a:pPr>
              <a:defRPr sz="1100" b="1">
                <a:solidFill>
                  <a:srgbClr val="E0E800"/>
                </a:solidFill>
              </a:defRPr>
            </a:pPr>
            <a:r>
              <a:t>Aço Inoxidável &amp; Foodservice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Liderança nacional na manufatura sanitária sob medida em aço inox.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194560"/>
            <a:ext cx="3063240" cy="100584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lient-alfatec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286000"/>
            <a:ext cx="731520" cy="7315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046720" y="2011680"/>
            <a:ext cx="3611880" cy="411480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  <a:br/>
            <a:br/>
            <a:br/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MetalFisa Metalmecânica</a:t>
            </a:r>
          </a:p>
          <a:p>
            <a:pPr>
              <a:defRPr sz="1100" b="1">
                <a:solidFill>
                  <a:srgbClr val="E0E800"/>
                </a:solidFill>
              </a:defRPr>
            </a:pPr>
            <a:r>
              <a:t>Corte Laser CNC &amp; Conformação</a:t>
            </a:r>
          </a:p>
          <a:p>
            <a:pPr>
              <a:defRPr sz="1100">
                <a:solidFill>
                  <a:srgbClr val="D8DCDA"/>
                </a:solidFill>
              </a:defRPr>
            </a:pPr>
            <a:r>
              <a:t>Caldeiraria fina de ponta, corte laser de alta velocidade e apontamentos 100% digitais.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194560"/>
            <a:ext cx="3063240" cy="100584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etalfisa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2286000"/>
            <a:ext cx="782164" cy="7315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0A8A4"/>
                </a:solidFill>
              </a:defRPr>
            </a:pPr>
            <a:r>
              <a:t>Grupo Lynx  ✕  SIM Consultoria (18 Anos em Gestão da Qualidade)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A0A8A4"/>
                </a:solidFill>
              </a:defRPr>
            </a:pPr>
            <a:r>
              <a:t>https://lynxems.com.br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0E800"/>
                </a:solidFill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724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TIPO S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1585570" cy="384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103120" y="292608"/>
            <a:ext cx="2926080" cy="292608"/>
          </a:xfrm>
          <a:prstGeom prst="roundRect">
            <a:avLst/>
          </a:prstGeom>
          <a:solidFill>
            <a:srgbClr val="2A3833"/>
          </a:solidFill>
          <a:ln w="1270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800"/>
                </a:solidFill>
              </a:defRPr>
            </a:pPr>
            <a:r>
              <a:t>PRÓXIMOS PASSOS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01168"/>
            <a:ext cx="2011680" cy="475488"/>
          </a:xfrm>
          <a:prstGeom prst="roundRect">
            <a:avLst/>
          </a:prstGeom>
          <a:solidFill>
            <a:srgbClr val="283631"/>
          </a:solidFill>
          <a:ln w="12700">
            <a:solidFill>
              <a:srgbClr val="556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-consultor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37744"/>
            <a:ext cx="384048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0" y="292608"/>
            <a:ext cx="640080" cy="274320"/>
          </a:xfrm>
          <a:prstGeom prst="roundRect">
            <a:avLst/>
          </a:prstGeom>
          <a:solidFill>
            <a:srgbClr val="E0E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51D1A"/>
                </a:solidFill>
              </a:defRPr>
            </a:pPr>
            <a:r>
              <a:t>18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Tecnologia Confiável Feita para a Indústria Real</a:t>
            </a:r>
          </a:p>
          <a:p>
            <a:pPr>
              <a:defRPr sz="1200">
                <a:solidFill>
                  <a:srgbClr val="A0A8A4"/>
                </a:solidFill>
              </a:defRPr>
            </a:pPr>
            <a:r>
              <a:t>Arquitetura híbrida desenvolvida para operar sem interrupções e se integrar à sua infraestrutura de TI existente.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5486400" cy="4114800"/>
          </a:xfrm>
          <a:prstGeom prst="roundRect">
            <a:avLst/>
          </a:prstGeom>
          <a:solidFill>
            <a:srgbClr val="24312D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0E800"/>
                </a:solidFill>
              </a:defRPr>
            </a:pPr>
            <a:r>
              <a:t>Resiliência Operacional &amp; Segurança 4.0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Operação Híbrida (On-Premises + Nuvem): O chão de fábrica continua apontando mesmo se a internet oscilar.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Segurança da Informação &amp; Auditoria: Autenticação JWT, perfis restritivos e rastreabilidade forense de cada ação.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Implantação Ágil e Acompanhada: Equipe técnica do Grupo Lynx com suporte sênior da SIM Consultoria.</a:t>
            </a:r>
          </a:p>
          <a:p>
            <a:pPr>
              <a:defRPr sz="1150">
                <a:solidFill>
                  <a:srgbClr val="D8DCDA"/>
                </a:solidFill>
              </a:defRPr>
            </a:pPr>
            <a:r>
              <a:t>✓  Integração Fluida ao ERP: Sincronização automática com TOTVS, Omie e Sankhya via APIs REST seguras.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486400" cy="4114800"/>
          </a:xfrm>
          <a:prstGeom prst="roundRect">
            <a:avLst/>
          </a:prstGeom>
          <a:solidFill>
            <a:srgbClr val="2C3B36"/>
          </a:solidFill>
          <a:ln w="19050">
            <a:solidFill>
              <a:srgbClr val="E0E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Solicite uma Demonstração na Sua Fábrica</a:t>
            </a:r>
          </a:p>
          <a:p>
            <a:pPr algn="ctr">
              <a:defRPr sz="1150">
                <a:solidFill>
                  <a:srgbClr val="D8DCDA"/>
                </a:solidFill>
              </a:defRPr>
            </a:pPr>
            <a:r>
              <a:t>Veja o SINCO operando com os dados do seu próprio produto e descubra como elevar a rentabilidade, a conformidade normativa e o OEE da sua linha de produção.</a:t>
            </a:r>
          </a:p>
          <a:p>
            <a:br/>
            <a:pPr algn="ctr">
              <a:defRPr sz="1000" b="1">
                <a:solidFill>
                  <a:srgbClr val="E0E800"/>
                </a:solidFill>
              </a:defRPr>
            </a:pPr>
            <a:r>
              <a:t>PORTAL OFICIAL: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https://lynxems.com.br</a:t>
            </a:r>
          </a:p>
          <a:p>
            <a:br/>
            <a:pPr algn="ctr">
              <a:defRPr sz="1000">
                <a:solidFill>
                  <a:srgbClr val="A0A8A4"/>
                </a:solidFill>
              </a:defRPr>
            </a:pPr>
            <a:r>
              <a:t>Contato: edson@lynxems.com.br  |  WhatsApp: (31) 99557-4906</a:t>
            </a:r>
            <a:br/>
            <a:r>
              <a:t>Grupo Lynx Soluções Industriais  ✕  SIM Consultoria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77295" cy="13716"/>
          </a:xfrm>
          <a:prstGeom prst="rect">
            <a:avLst/>
          </a:prstGeom>
          <a:solidFill>
            <a:srgbClr val="3A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0A8A4"/>
                </a:solidFill>
              </a:defRPr>
            </a:pPr>
            <a:r>
              <a:t>Grupo Lynx  ✕  SIM Consultoria (18 Anos em Gestão da Qualidade)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A0A8A4"/>
                </a:solidFill>
              </a:defRPr>
            </a:pPr>
            <a:r>
              <a:t>https://lynxems.com.br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0E800"/>
                </a:solidFill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