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etalfis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79409"/>
            <a:ext cx="1645920" cy="11405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5625" y="2234382"/>
            <a:ext cx="484632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284C7"/>
                </a:solidFill>
              </a:defRPr>
            </a:pPr>
            <a:r>
              <a:rPr dirty="0"/>
              <a:t>TRANSFORMANDO METAIS EM EXCELÊNCIA</a:t>
            </a:r>
          </a:p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rPr dirty="0" err="1"/>
              <a:t>Gestão</a:t>
            </a:r>
            <a:r>
              <a:rPr dirty="0"/>
              <a:t> de </a:t>
            </a:r>
            <a:r>
              <a:rPr dirty="0" err="1"/>
              <a:t>Produção</a:t>
            </a:r>
            <a:r>
              <a:rPr dirty="0"/>
              <a:t> e Alta </a:t>
            </a:r>
            <a:r>
              <a:rPr dirty="0" err="1"/>
              <a:t>Tecnologia</a:t>
            </a:r>
            <a:endParaRPr dirty="0"/>
          </a:p>
          <a:p>
            <a:pPr>
              <a:spcAft>
                <a:spcPts val="800"/>
              </a:spcAft>
              <a:defRPr sz="1700" b="1">
                <a:solidFill>
                  <a:srgbClr val="0D9488"/>
                </a:solidFill>
              </a:defRPr>
            </a:pPr>
            <a:r>
              <a:rPr dirty="0"/>
              <a:t>Masterplan de </a:t>
            </a:r>
            <a:r>
              <a:rPr dirty="0" err="1"/>
              <a:t>Controladoria</a:t>
            </a:r>
            <a:r>
              <a:rPr dirty="0"/>
              <a:t> Industrial</a:t>
            </a:r>
          </a:p>
          <a:p>
            <a:pPr>
              <a:spcAft>
                <a:spcPts val="1200"/>
              </a:spcAft>
              <a:defRPr sz="950">
                <a:solidFill>
                  <a:srgbClr val="CBD5E1"/>
                </a:solidFill>
              </a:defRPr>
            </a:pPr>
            <a:r>
              <a:rPr dirty="0" err="1"/>
              <a:t>Infraestrutura</a:t>
            </a:r>
            <a:r>
              <a:rPr dirty="0"/>
              <a:t> completa, </a:t>
            </a:r>
            <a:r>
              <a:rPr dirty="0" err="1"/>
              <a:t>tecnologia</a:t>
            </a:r>
            <a:r>
              <a:rPr dirty="0"/>
              <a:t> de </a:t>
            </a:r>
            <a:r>
              <a:rPr dirty="0" err="1"/>
              <a:t>ponta</a:t>
            </a:r>
            <a:r>
              <a:rPr dirty="0"/>
              <a:t> e </a:t>
            </a:r>
            <a:r>
              <a:rPr dirty="0" err="1"/>
              <a:t>credibilidade</a:t>
            </a:r>
            <a:r>
              <a:rPr dirty="0"/>
              <a:t> a </a:t>
            </a:r>
            <a:r>
              <a:rPr dirty="0" err="1"/>
              <a:t>serviço</a:t>
            </a:r>
            <a:r>
              <a:rPr dirty="0"/>
              <a:t> dos </a:t>
            </a:r>
            <a:r>
              <a:rPr dirty="0" err="1"/>
              <a:t>clientes</a:t>
            </a:r>
            <a:r>
              <a:rPr dirty="0"/>
              <a:t>. </a:t>
            </a:r>
            <a:r>
              <a:rPr dirty="0" err="1"/>
              <a:t>Arquitetura</a:t>
            </a:r>
            <a:r>
              <a:rPr dirty="0"/>
              <a:t> de </a:t>
            </a:r>
            <a:r>
              <a:rPr dirty="0" err="1"/>
              <a:t>processos</a:t>
            </a:r>
            <a:r>
              <a:rPr dirty="0"/>
              <a:t> </a:t>
            </a:r>
            <a:r>
              <a:rPr dirty="0" err="1"/>
              <a:t>integrando</a:t>
            </a:r>
            <a:r>
              <a:rPr dirty="0"/>
              <a:t> o </a:t>
            </a:r>
            <a:r>
              <a:rPr dirty="0" err="1"/>
              <a:t>ecossistema</a:t>
            </a:r>
            <a:r>
              <a:rPr dirty="0"/>
              <a:t> de </a:t>
            </a:r>
            <a:r>
              <a:rPr dirty="0" err="1"/>
              <a:t>engenharia</a:t>
            </a:r>
            <a:r>
              <a:rPr dirty="0"/>
              <a:t> e </a:t>
            </a:r>
            <a:r>
              <a:rPr dirty="0" err="1"/>
              <a:t>chão</a:t>
            </a:r>
            <a:r>
              <a:rPr dirty="0"/>
              <a:t> de </a:t>
            </a:r>
            <a:r>
              <a:rPr dirty="0" err="1"/>
              <a:t>fábrica</a:t>
            </a:r>
            <a:r>
              <a:rPr dirty="0"/>
              <a:t> (SINCO) </a:t>
            </a:r>
            <a:r>
              <a:rPr dirty="0" err="1"/>
              <a:t>ao</a:t>
            </a:r>
            <a:r>
              <a:rPr dirty="0"/>
              <a:t> ERP Corporativo (</a:t>
            </a:r>
            <a:r>
              <a:rPr dirty="0" err="1"/>
              <a:t>Protheus</a:t>
            </a:r>
            <a:r>
              <a:rPr dirty="0"/>
              <a:t> TOTVS).</a:t>
            </a:r>
          </a:p>
          <a:p>
            <a:pPr>
              <a:spcAft>
                <a:spcPts val="1400"/>
              </a:spcAft>
              <a:defRPr sz="850">
                <a:solidFill>
                  <a:srgbClr val="94A3B8"/>
                </a:solidFill>
              </a:defRPr>
            </a:pPr>
            <a:r>
              <a:rPr dirty="0"/>
              <a:t>• SINCO: O </a:t>
            </a:r>
            <a:r>
              <a:rPr dirty="0" err="1"/>
              <a:t>coração</a:t>
            </a:r>
            <a:r>
              <a:rPr dirty="0"/>
              <a:t> da Indústria 4.0 (BOM, OPs, </a:t>
            </a:r>
            <a:r>
              <a:rPr dirty="0" err="1"/>
              <a:t>Roteiros</a:t>
            </a:r>
            <a:r>
              <a:rPr dirty="0"/>
              <a:t> e </a:t>
            </a:r>
            <a:r>
              <a:rPr dirty="0" err="1"/>
              <a:t>Apontamentos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Protheus</a:t>
            </a:r>
            <a:r>
              <a:rPr dirty="0"/>
              <a:t> TOTVS: </a:t>
            </a:r>
            <a:r>
              <a:rPr dirty="0" err="1"/>
              <a:t>Gestão</a:t>
            </a:r>
            <a:r>
              <a:rPr dirty="0"/>
              <a:t> de Custos, Estoques, Fiscal e </a:t>
            </a:r>
            <a:r>
              <a:rPr dirty="0" err="1"/>
              <a:t>Contabilidade</a:t>
            </a:r>
            <a:br>
              <a:rPr dirty="0"/>
            </a:br>
            <a:r>
              <a:rPr dirty="0"/>
              <a:t>• DRE </a:t>
            </a:r>
            <a:r>
              <a:rPr dirty="0" err="1"/>
              <a:t>Gerencial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Projeto</a:t>
            </a:r>
            <a:r>
              <a:rPr dirty="0"/>
              <a:t> (Wabtec) com </a:t>
            </a:r>
            <a:r>
              <a:rPr dirty="0" err="1"/>
              <a:t>Margem</a:t>
            </a:r>
            <a:r>
              <a:rPr dirty="0"/>
              <a:t> de </a:t>
            </a:r>
            <a:r>
              <a:rPr dirty="0" err="1"/>
              <a:t>Contribuição</a:t>
            </a:r>
            <a:r>
              <a:rPr dirty="0"/>
              <a:t> Real</a:t>
            </a:r>
            <a:br>
              <a:rPr dirty="0"/>
            </a:br>
            <a:r>
              <a:rPr dirty="0"/>
              <a:t>• </a:t>
            </a:r>
            <a:r>
              <a:rPr dirty="0" err="1"/>
              <a:t>Fechamento</a:t>
            </a:r>
            <a:r>
              <a:rPr dirty="0"/>
              <a:t> Mensal </a:t>
            </a:r>
            <a:r>
              <a:rPr dirty="0" err="1"/>
              <a:t>Rigoroso</a:t>
            </a:r>
            <a:r>
              <a:rPr dirty="0"/>
              <a:t> (Cut-off D-0 a D+5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48463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750" b="1">
                <a:solidFill>
                  <a:srgbClr val="0D9488"/>
                </a:solidFill>
              </a:defRPr>
            </a:pPr>
            <a:r>
              <a:t>EMPRESA DESENVOLVEDORA DO PLANO: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LYNX EMS SISTEMAS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Consultoria Especializada em Arquitetura de Sistemas, Controladoria e Integração Industrial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640080"/>
            <a:ext cx="5577840" cy="5577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9" name="Picture 8" descr="metalfisa_hero_section_17889682858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118" y="1229526"/>
            <a:ext cx="4876308" cy="35539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484632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E3A8A"/>
                </a:solidFill>
              </a:defRPr>
            </a:pPr>
            <a:r>
              <a:t>PLATAFORMA INTEGRADA METALFISA / SINCO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Visualização da página inicial da plataforma web em produção. Sistema desenvolvido pela Lynx EMS Sistemas para conectar o chão de fábrica ao ERP corporativo com dashboards e governança em tempo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Diagnóstico do Cenário Atual: O Elo Perdido entre Fábrica e Finanças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329184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r>
              <a:t>1. O UNIVERSO SINCO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Engenharia &amp; Chão de Fábrica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• Ordens de Serviço (ordemservico)</a:t>
            </a:r>
            <a:br/>
            <a:r>
              <a:t>• Estrutura de Peças multinível (ordemservicoitem)</a:t>
            </a:r>
            <a:br/>
            <a:r>
              <a:t>• Listas Técnicas e Desenhos CAD (material)</a:t>
            </a:r>
            <a:br/>
            <a:r>
              <a:t>• Roteiros de Operações e Processos (ordemservicoitem_processo)</a:t>
            </a:r>
            <a:br/>
            <a:r>
              <a:t>• Pesagem, área de pintura e apontamento físico de tempos operacionais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3383280" cy="41148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2801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11D48"/>
                </a:solidFill>
              </a:defRPr>
            </a:pPr>
            <a:r>
              <a:t>2. O GAP IDENTIFICADO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Riscos e Gargalos da Desconexão</a:t>
            </a:r>
          </a:p>
          <a:p>
            <a:pPr>
              <a:defRPr sz="900">
                <a:solidFill>
                  <a:srgbClr val="9F1239"/>
                </a:solidFill>
              </a:defRPr>
            </a:pPr>
            <a:r>
              <a:t>• OPs no Protheus desconectadas das OSs do SINCO</a:t>
            </a:r>
            <a:br/>
            <a:r>
              <a:t>• Baixas físicas de aço sem requisição contábil (SD3010)</a:t>
            </a:r>
            <a:br/>
            <a:r>
              <a:t>• Custo Médio distorcido por falta de apropriação de horas</a:t>
            </a:r>
            <a:br/>
            <a:r>
              <a:t>• Acúmulo de 'OPs zumbis' em aberto gerando saldo fantasma de estoque em processo (WIP)</a:t>
            </a:r>
            <a:br/>
            <a:r>
              <a:t>• DRE gerencial de retrovisor sem apuração real de margem por cliente (ex: Wabtec)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43000"/>
            <a:ext cx="329184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2801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</a:defRPr>
            </a:pPr>
            <a:r>
              <a:t>3. O UNIVERSO PROTHEUS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Gestão Corporativa &amp; Fiscal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• Estoque Fiscal e Saldos Oficiais (SB2010/SB9010)</a:t>
            </a:r>
            <a:br/>
            <a:r>
              <a:t>• Compras e Notas de Entrada (SC7010/SD1010)</a:t>
            </a:r>
            <a:br/>
            <a:r>
              <a:t>• Faturamento e Notas de Saída (SF2010/SD2010)</a:t>
            </a:r>
            <a:br/>
            <a:r>
              <a:t>• Contas a Pagar e Receber (SE2010/SE1010)</a:t>
            </a:r>
            <a:br/>
            <a:r>
              <a:t>• Contabilidade e Centros de Custo (CT1010/CTT010)</a:t>
            </a:r>
            <a:br/>
            <a:r>
              <a:t>• Rotina de Recálculo do Custo Médio (MATA330)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4068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50468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PROPOSTA LYNX EMS SISTEMAS: Integrar os eventos de chão de fábrica do SINCO diretamente no Protheus, garantindo rastreabilidade de ponta a ponta, eliminação de distorções contábeis e DRE fidedigna em tempo hábil para a tomada de decisão.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A Arquitetura de Controladoria em 6 Grandes Pilares Integrados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34747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347472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284C7"/>
                </a:solidFill>
              </a:defRPr>
            </a:pPr>
            <a:r>
              <a:t>PILAR 1: ENGENHARIA DE CUSTOS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Formação do Custo Standard (Target Cost) integrando a BOM técnica do SINCO com taxas horárias de MOD e CIF no Protheus.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43000"/>
            <a:ext cx="34747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43000"/>
            <a:ext cx="347472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3258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E3A8A"/>
                </a:solidFill>
              </a:defRPr>
            </a:pPr>
            <a:r>
              <a:t>PILAR 2: CUSTO REAL &amp; WIP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Apuração do custo efetivo por Ordem de Produção (SC2), acumulando requisições reais de aço (RE0) e horas apontadas em fábrica.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43000"/>
            <a:ext cx="34747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143000"/>
            <a:ext cx="34747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3258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D97706"/>
                </a:solidFill>
              </a:defRPr>
            </a:pPr>
            <a:r>
              <a:t>PILAR 3: ANÁLISE DE VARIAÇÕES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Cálculo analítico dos desvios entre orçado e realizado: Variação de Preço (PPV), Eficiência de Material, MOD e Ociosidade fabril.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34747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347472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D9488"/>
                </a:solidFill>
              </a:defRPr>
            </a:pPr>
            <a:r>
              <a:t>PILAR 4: CENTROS DE CUSTO &amp; RATEIOS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Estruturação rigorosa da árvore de Centros de Custo (CTT) com regras objetivas de absorção de CIF (energia, depreciação, manutenção).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03320"/>
            <a:ext cx="34747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70332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3886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0B981"/>
                </a:solidFill>
              </a:defRPr>
            </a:pPr>
            <a:r>
              <a:t>PILAR 5: DRE GERENCIAL &amp; MARGEM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Demonstração de Resultados multidimensional: Margem de Contribuição por Projeto, por Cliente (Wabtec) e por Família de Peça.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703320"/>
            <a:ext cx="34747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3703320"/>
            <a:ext cx="347472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3886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E11D48"/>
                </a:solidFill>
              </a:defRPr>
            </a:pPr>
            <a:r>
              <a:t>PILAR 6: RITUAL DE FECHAMENTO (CUT-OFF)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Governança do calendário mensal D-0 a D+5: corte de apontamentos, conciliação de estoques, recálculo de custo médio e book executivo.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Pilar 1: Engenharia de Custos e Formação do Custo Standard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4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621792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284C7"/>
                </a:solidFill>
              </a:defRPr>
            </a:pPr>
            <a:r>
              <a:t>COMO É CALCULADO O CUSTO STANDARD DA METALFISA</a:t>
            </a:r>
          </a:p>
          <a:p>
            <a:pPr>
              <a:spcAft>
                <a:spcPts val="1000"/>
              </a:spcAft>
              <a:defRPr sz="950" b="1">
                <a:solidFill>
                  <a:srgbClr val="1E3A8A"/>
                </a:solidFill>
              </a:defRPr>
            </a:pPr>
            <a:r>
              <a:t>Fórmula: Custo Standard = Matéria-Prima (MP) + Mão de Obra Direta (MOD) + CIF + Terceirização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1. Matéria-Prima Direta (MP):</a:t>
            </a:r>
          </a:p>
          <a:p>
            <a:pPr>
              <a:spcAft>
                <a:spcPts val="500"/>
              </a:spcAft>
              <a:defRPr sz="850">
                <a:solidFill>
                  <a:srgbClr val="64748B"/>
                </a:solidFill>
              </a:defRPr>
            </a:pPr>
            <a:r>
              <a:t>SINCO fornece a lista de materiais técnica (peso líquido da peça + fator de sucata/retalho de corte). O Protheus fornece o custo de reposição ou último preço de compra homologado em compras (SC7/SB2).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2. Mão de Obra Direta (MOD):</a:t>
            </a:r>
          </a:p>
          <a:p>
            <a:pPr>
              <a:spcAft>
                <a:spcPts val="500"/>
              </a:spcAft>
              <a:defRPr sz="850">
                <a:solidFill>
                  <a:srgbClr val="64748B"/>
                </a:solidFill>
              </a:defRPr>
            </a:pPr>
            <a:r>
              <a:t>SINCO detalha os tempos de setup e operação em cada posto no roteiro (ordemservicoitem_processo). A Controladoria parametriza a taxa horária de cada centro produtivo no Protheus = (Salários + Encargos + Benefícios) / Horas Efetivas.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3. Custos Indiretos de Fabricação (CIF Standard):</a:t>
            </a:r>
          </a:p>
          <a:p>
            <a:pPr>
              <a:spcAft>
                <a:spcPts val="500"/>
              </a:spcAft>
              <a:defRPr sz="850">
                <a:solidFill>
                  <a:srgbClr val="64748B"/>
                </a:solidFill>
              </a:defRPr>
            </a:pPr>
            <a:r>
              <a:t>Taxa horária das máquinas (depreciação do equipamento cadastrado no SIGAATF + consumo de energia em kW/h + custo histórico de manutenção preventiva).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4. Serviços de Terceiros / Beneficiamento:</a:t>
            </a:r>
          </a:p>
          <a:p>
            <a:pPr>
              <a:spcAft>
                <a:spcPts val="500"/>
              </a:spcAft>
              <a:defRPr sz="850">
                <a:solidFill>
                  <a:srgbClr val="64748B"/>
                </a:solidFill>
              </a:defRPr>
            </a:pPr>
            <a:r>
              <a:t>Tratamentos térmicos, zincagem, pintura especial ou usinagem externa precificados conforme contrato.</a:t>
            </a:r>
          </a:p>
        </p:txBody>
      </p:sp>
      <p:pic>
        <p:nvPicPr>
          <p:cNvPr id="10" name="Picture 9" descr="custos_producao_17889671104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43000"/>
            <a:ext cx="4297680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132320" y="4206240"/>
            <a:ext cx="4297680" cy="2057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434340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D9488"/>
                </a:solidFill>
              </a:defRPr>
            </a:pPr>
            <a:r>
              <a:t>APLICAÇÃO NO PROTHEUS &amp; SINCO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SINCO exporta BOM consolidada → Atualiza SG1010 (Estruturas)</a:t>
            </a:r>
            <a:br/>
            <a:r>
              <a:t>• Roteiros de processo → Atualiza SG2010 (Operações/Postos)</a:t>
            </a:r>
            <a:br/>
            <a:r>
              <a:t>• Custo Standard vira referência obrigatória para vendas e orçamento</a:t>
            </a:r>
            <a:br/>
            <a:r>
              <a:t>• Desenvolvido e validado pela Lynx EMS Sistemas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Pilar 2: Apropriação do Custo Real &amp; Gestão de WIP (Work in Process)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5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06984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280160"/>
            <a:ext cx="2011680" cy="5943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SINCO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2344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PASSO 1: LIBERAÇÃO ENGENHARIA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 Engenharia libera a OS no SINCO (Liberado_Engenharia = 'S'). O App desenvolvido pela Lynx EMS valida os códigos de produto e pesos.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106984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" y="2286000"/>
            <a:ext cx="2011680" cy="594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402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PASSO 2: ABERTURA DE OP NO ERP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Cria-se a Ordem de Produção no Protheus (SC2010), amarrando o Item Contábil (CTD010) ao Projeto/Cliente (ex: Wabtec).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106984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" y="3291840"/>
            <a:ext cx="2011680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PROTHEUS / SD3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461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PASSO 3: REQUISIÇÃO DE MATERIAIS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Chapas e perfis de aço baixados na fábrica viram movimento RE0 na SD3010. Débito: Estoque em Processo (WIP). Crédito: Estoque MP.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60520"/>
            <a:ext cx="106984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4297680"/>
            <a:ext cx="2011680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SINCO ↔ PROTHEUS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2519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PASSO 4: APONTAMENTO DE HORAS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Operador conclui etapa de corte, dobra, solda ou usinagem. Gera movimento na SHB010/SD3010, debitando WIP e creditando MOD Aplicada.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66360"/>
            <a:ext cx="106984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680" y="5303520"/>
            <a:ext cx="201168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PROTHEUS / SD3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2578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PASSO 5: ENCERRAMENTO &amp; PRODUTO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Ao concluir o item no SINCO, gera movimento PR0 na SD3010. Transfere todo o saldo acumulado de WIP para Produto Acabado pronto para NF.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Pilar 3: Análise Analítica de Variações de Custo (Variance Analysis)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6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52120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2801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284C7"/>
                </a:solidFill>
              </a:defRPr>
            </a:pPr>
            <a:r>
              <a:t>VARIAÇÃO DE PREÇO (PPV)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</a:defRPr>
            </a:pPr>
            <a:r>
              <a:t>Fórmula: (Preço Real de Compra - Preço Standard) x Quantidade Comprada</a:t>
            </a:r>
          </a:p>
          <a:p>
            <a:pPr>
              <a:spcAft>
                <a:spcPts val="500"/>
              </a:spcAft>
              <a:defRPr sz="800">
                <a:solidFill>
                  <a:srgbClr val="64748B"/>
                </a:solidFill>
              </a:defRPr>
            </a:pPr>
            <a:r>
              <a:t>Mede o impacto da inflação de aço, variação cambial de insumos ou compras de emergência fora de contrato.</a:t>
            </a:r>
          </a:p>
          <a:p>
            <a:pPr>
              <a:defRPr sz="800" b="1">
                <a:solidFill>
                  <a:srgbClr val="0D9488"/>
                </a:solidFill>
              </a:defRPr>
            </a:pPr>
            <a:r>
              <a:t>• Responsável: Compras / Suprimentos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430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21208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2801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E11D48"/>
                </a:solidFill>
              </a:defRPr>
            </a:pPr>
            <a:r>
              <a:t>VARIAÇÃO DE EFICIÊNCIA DE MATERIAL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</a:defRPr>
            </a:pPr>
            <a:r>
              <a:t>Fórmula: (Qtd Real Consumida - Qtd Standard SINCO) x Preço Standard</a:t>
            </a:r>
          </a:p>
          <a:p>
            <a:pPr>
              <a:spcAft>
                <a:spcPts val="500"/>
              </a:spcAft>
              <a:defRPr sz="800">
                <a:solidFill>
                  <a:srgbClr val="64748B"/>
                </a:solidFill>
              </a:defRPr>
            </a:pPr>
            <a:r>
              <a:t>Mede sucata acima do previsto, aproveitamento ruim no corte a laser, perdas de solda, retrabalho ou peças danificadas.</a:t>
            </a:r>
          </a:p>
          <a:p>
            <a:pPr>
              <a:defRPr sz="800" b="1">
                <a:solidFill>
                  <a:srgbClr val="0D9488"/>
                </a:solidFill>
              </a:defRPr>
            </a:pPr>
            <a:r>
              <a:t>• Responsável: Engenharia / Chão de Fábrica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4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52120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D97706"/>
                </a:solidFill>
              </a:defRPr>
            </a:pPr>
            <a:r>
              <a:t>VARIAÇÃO DE EFICIÊNCIA DE MOD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</a:defRPr>
            </a:pPr>
            <a:r>
              <a:t>Fórmula: (Horas Reais Apontadas - Horas Standard) x Taxa Horária Setor</a:t>
            </a:r>
          </a:p>
          <a:p>
            <a:pPr>
              <a:spcAft>
                <a:spcPts val="500"/>
              </a:spcAft>
              <a:defRPr sz="800">
                <a:solidFill>
                  <a:srgbClr val="64748B"/>
                </a:solidFill>
              </a:defRPr>
            </a:pPr>
            <a:r>
              <a:t>Mede se o operador demorou mais que o roteiro técnico do SINCO previa. Aponta gargalos operacionais e quebra de ferramentas.</a:t>
            </a:r>
          </a:p>
          <a:p>
            <a:pPr>
              <a:defRPr sz="800" b="1">
                <a:solidFill>
                  <a:srgbClr val="0D9488"/>
                </a:solidFill>
              </a:defRPr>
            </a:pPr>
            <a:r>
              <a:t>• Responsável: Supervisão de Produção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52044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3520440"/>
            <a:ext cx="521208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6576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1E3A8A"/>
                </a:solidFill>
              </a:defRPr>
            </a:pPr>
            <a:r>
              <a:t>VARIAÇÃO DE VOLUME / OCIOSIDADE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</a:defRPr>
            </a:pPr>
            <a:r>
              <a:t>Fórmula: CIF Fabril Orçado no Mês - CIF Efetivamente Absorvido nas OPs</a:t>
            </a:r>
          </a:p>
          <a:p>
            <a:pPr>
              <a:spcAft>
                <a:spcPts val="500"/>
              </a:spcAft>
              <a:defRPr sz="800">
                <a:solidFill>
                  <a:srgbClr val="64748B"/>
                </a:solidFill>
              </a:defRPr>
            </a:pPr>
            <a:r>
              <a:t>Mede o custo da fábrica parada. Se a fábrica produziu menos que a capacidade instalada, a ociosidade vai direto para a DRE como prejuízo.</a:t>
            </a:r>
          </a:p>
          <a:p>
            <a:pPr>
              <a:defRPr sz="800" b="1">
                <a:solidFill>
                  <a:srgbClr val="0D9488"/>
                </a:solidFill>
              </a:defRPr>
            </a:pPr>
            <a:r>
              <a:t>• Responsável: PCP / Comercial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97880"/>
            <a:ext cx="10607040" cy="502920"/>
          </a:xfrm>
          <a:prstGeom prst="roundRect">
            <a:avLst/>
          </a:prstGeom>
          <a:solidFill>
            <a:srgbClr val="FEF3C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2400E"/>
                </a:solidFill>
              </a:defRPr>
            </a:pPr>
            <a:r>
              <a:t>REGRA DE GESTÃO LYNX EMS: Disparar alertas de estouramento de custo no App se qualquer OS exceder em &gt; 10% as horas ou peso previstos.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Pilar 4: Árvore de Centros de Custo (CTT) e Critérios de Rateio de CIF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7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521208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284C7"/>
                </a:solidFill>
              </a:defRPr>
            </a:pPr>
            <a:r>
              <a:t>ESTRUTURAÇÃO DOS CENTROS DE CUSTO (CTT010)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10 - CENTROS PRODUTIVOS (Absorção Direta nas OPs)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• 10.01 - Corte a Laser / Plasma / Guilhotina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• 10.02 - Dobra / Caldeiraria Pesada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• 10.03 - Soldagem (MIG, MAG, TIG, Robótica)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• 10.04 - Usinagem CNC (Tornos, Centros de Usinagem)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• 10.05 - Jateamento e Pintura Industrial</a:t>
            </a:r>
          </a:p>
          <a:p>
            <a:pPr>
              <a:spcAft>
                <a:spcPts val="400"/>
              </a:spcAft>
              <a:defRPr sz="800">
                <a:solidFill>
                  <a:srgbClr val="64748B"/>
                </a:solidFill>
              </a:defRPr>
            </a:pPr>
            <a:r>
              <a:t>  • 10.06 - Montagem Mecânica Final e Embalagem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20 - CENTROS DE APOIO À FABRICAÇÃO (Rateados para os Produtivos)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• 20.01 - Engenharia de Produto e Processos (SINCO)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• 20.02 - PCP e Programação de Chão de Fábrica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• 20.03 - Manutenção Mecânica, Elétrica e Predial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• 20.04 - Controle de Qualidade / SGQ e Ensaios</a:t>
            </a:r>
          </a:p>
          <a:p>
            <a:pPr>
              <a:spcAft>
                <a:spcPts val="400"/>
              </a:spcAft>
              <a:defRPr sz="800">
                <a:solidFill>
                  <a:srgbClr val="64748B"/>
                </a:solidFill>
              </a:defRPr>
            </a:pPr>
            <a:r>
              <a:t>  • 20.05 - Almoxarifado Central e Logística Interna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30 - CENTROS ADMINISTRATIVOS &amp; SG&amp;A (Despesas do Mês)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• 30.01 - Diretoria Executiva | 30.02 - Controladoria &amp; Finanças</a:t>
            </a:r>
          </a:p>
          <a:p>
            <a:pPr>
              <a:spcAft>
                <a:spcPts val="400"/>
              </a:spcAft>
              <a:defRPr sz="800">
                <a:solidFill>
                  <a:srgbClr val="64748B"/>
                </a:solidFill>
              </a:defRPr>
            </a:pPr>
            <a:r>
              <a:t>  • 30.03 - Comercial &amp; Contratos | 30.04 - RH &amp; SST | 30.05 - 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21208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E3A8A"/>
                </a:solidFill>
              </a:defRPr>
            </a:pPr>
            <a:r>
              <a:t>CRITÉRIOS OBJETIVOS DE RATEIO DE CIF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Energia Elétrica Fabril:</a:t>
            </a:r>
          </a:p>
          <a:p>
            <a:pPr>
              <a:spcAft>
                <a:spcPts val="500"/>
              </a:spcAft>
              <a:defRPr sz="800">
                <a:solidFill>
                  <a:srgbClr val="64748B"/>
                </a:solidFill>
              </a:defRPr>
            </a:pPr>
            <a:r>
              <a:t>Rateada proporcionalmente à potência instalada (kW) dos equipamentos por centro de trabalho x horas de funcionamento no mês.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Depreciação de Máquinas:</a:t>
            </a:r>
          </a:p>
          <a:p>
            <a:pPr>
              <a:spcAft>
                <a:spcPts val="500"/>
              </a:spcAft>
              <a:defRPr sz="800">
                <a:solidFill>
                  <a:srgbClr val="64748B"/>
                </a:solidFill>
              </a:defRPr>
            </a:pPr>
            <a:r>
              <a:t>Alocada diretamente via módulo de Ativo Fixo do Protheus (SIGAATF) de acordo com o patrimônio alocado em cada setor.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Manutenção e Peças:</a:t>
            </a:r>
          </a:p>
          <a:p>
            <a:pPr>
              <a:spcAft>
                <a:spcPts val="500"/>
              </a:spcAft>
              <a:defRPr sz="800">
                <a:solidFill>
                  <a:srgbClr val="64748B"/>
                </a:solidFill>
              </a:defRPr>
            </a:pPr>
            <a:r>
              <a:t>Ordens de serviço de manutenção preventiva e corretiva apontadas diretamente na máquina do centro de custo correspondente.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Supervisão e Apoio (PCP, SGQ):</a:t>
            </a:r>
          </a:p>
          <a:p>
            <a:pPr>
              <a:spcAft>
                <a:spcPts val="500"/>
              </a:spcAft>
              <a:defRPr sz="800">
                <a:solidFill>
                  <a:srgbClr val="64748B"/>
                </a:solidFill>
              </a:defRPr>
            </a:pPr>
            <a:r>
              <a:t>Rateados aos centros produtivos de forma proporcional às horas de Mão de Obra Direta (MOD) apontadas no SINCO.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Consumíveis Gerais (Gases, Discos):</a:t>
            </a:r>
          </a:p>
          <a:p>
            <a:pPr>
              <a:spcAft>
                <a:spcPts val="500"/>
              </a:spcAft>
              <a:defRPr sz="800">
                <a:solidFill>
                  <a:srgbClr val="64748B"/>
                </a:solidFill>
              </a:defRPr>
            </a:pPr>
            <a:r>
              <a:t>Apropriados conforme requisição de almoxarifado apontada na Ordem de Serviço ou por taxa de absorção de solda/corte.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Pilar 5: DRE Gerencial Industrial &amp; Margem de Contribuição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8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621792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"/>
              </a:spcAft>
              <a:defRPr sz="850" b="1">
                <a:solidFill>
                  <a:srgbClr val="0F172A"/>
                </a:solidFill>
              </a:defRPr>
            </a:pPr>
            <a:r>
              <a:t>RECEITA OPERACIONAL BRUTA  [Faturamento total de peças e conjuntos faturados (SF2)]</a:t>
            </a:r>
          </a:p>
          <a:p>
            <a:pPr>
              <a:spcAft>
                <a:spcPts val="100"/>
              </a:spcAft>
              <a:defRPr sz="780" b="0">
                <a:solidFill>
                  <a:srgbClr val="E11D48"/>
                </a:solidFill>
              </a:defRPr>
            </a:pPr>
            <a:r>
              <a:t>  (-) Deduções de Vendas  [ICMS, PIS, COFINS, IPI, CPRB destacados]</a:t>
            </a:r>
          </a:p>
          <a:p>
            <a:pPr>
              <a:spcAft>
                <a:spcPts val="100"/>
              </a:spcAft>
              <a:defRPr sz="850" b="1">
                <a:solidFill>
                  <a:srgbClr val="1E3A8A"/>
                </a:solidFill>
              </a:defRPr>
            </a:pPr>
            <a:r>
              <a:t>(=) RECEITA OPERACIONAL LÍQUIDA  [Base real de entrada de recursos industriais]</a:t>
            </a:r>
          </a:p>
          <a:p>
            <a:pPr>
              <a:spcAft>
                <a:spcPts val="100"/>
              </a:spcAft>
              <a:defRPr sz="780" b="0">
                <a:solidFill>
                  <a:srgbClr val="E11D48"/>
                </a:solidFill>
              </a:defRPr>
            </a:pPr>
            <a:r>
              <a:t>  (-) Matéria-Prima &amp; Insumos Diretos  [Aço consumido, chapas, perfis, tintas, parafusos (SD3)]</a:t>
            </a:r>
          </a:p>
          <a:p>
            <a:pPr>
              <a:spcAft>
                <a:spcPts val="100"/>
              </a:spcAft>
              <a:defRPr sz="780" b="0">
                <a:solidFill>
                  <a:srgbClr val="E11D48"/>
                </a:solidFill>
              </a:defRPr>
            </a:pPr>
            <a:r>
              <a:t>  (-) Serviços de Terceiros / Beneficiamento  [Tratamento térmico, pintura externa, frete sobre venda]</a:t>
            </a:r>
          </a:p>
          <a:p>
            <a:pPr>
              <a:spcAft>
                <a:spcPts val="100"/>
              </a:spcAft>
              <a:defRPr sz="850" b="1">
                <a:solidFill>
                  <a:srgbClr val="0284C7"/>
                </a:solidFill>
              </a:defRPr>
            </a:pPr>
            <a:r>
              <a:t>(=) MARGEM DE CONTRIBUIÇÃO BRUTA  [Receita Líquida menos custos estritamente variáveis]</a:t>
            </a:r>
          </a:p>
          <a:p>
            <a:pPr>
              <a:spcAft>
                <a:spcPts val="100"/>
              </a:spcAft>
              <a:defRPr sz="780" b="0">
                <a:solidFill>
                  <a:srgbClr val="E11D48"/>
                </a:solidFill>
              </a:defRPr>
            </a:pPr>
            <a:r>
              <a:t>  (-) Mão de Obra Direta Fabril (MOD)  [Horas apontadas no SINCO x Custo Homem-Hora do Protheus]</a:t>
            </a:r>
          </a:p>
          <a:p>
            <a:pPr>
              <a:spcAft>
                <a:spcPts val="100"/>
              </a:spcAft>
              <a:defRPr sz="780" b="0">
                <a:solidFill>
                  <a:srgbClr val="E11D48"/>
                </a:solidFill>
              </a:defRPr>
            </a:pPr>
            <a:r>
              <a:t>  (-) Custos Indiretos Variáveis (CIF Variável)  [Energia de máquinas, desgaste de ferramentas, consumíveis]</a:t>
            </a:r>
          </a:p>
          <a:p>
            <a:pPr>
              <a:spcAft>
                <a:spcPts val="100"/>
              </a:spcAft>
              <a:defRPr sz="850" b="1">
                <a:solidFill>
                  <a:srgbClr val="0D9488"/>
                </a:solidFill>
              </a:defRPr>
            </a:pPr>
            <a:r>
              <a:t>(=) MARGEM INDUSTRIAL LÍQUIDA (LUCRO BRUTO)  [Eficiência operacional líquida da fábrica Metalfisa]</a:t>
            </a:r>
          </a:p>
          <a:p>
            <a:pPr>
              <a:spcAft>
                <a:spcPts val="100"/>
              </a:spcAft>
              <a:defRPr sz="780" b="0">
                <a:solidFill>
                  <a:srgbClr val="E11D48"/>
                </a:solidFill>
              </a:defRPr>
            </a:pPr>
            <a:r>
              <a:t>  (-) Custos Fixos de Fabricação  [Depreciação de máquinas, manutenção fixa, supervisão fabril]</a:t>
            </a:r>
          </a:p>
          <a:p>
            <a:pPr>
              <a:spcAft>
                <a:spcPts val="100"/>
              </a:spcAft>
              <a:defRPr sz="780" b="0">
                <a:solidFill>
                  <a:srgbClr val="E11D48"/>
                </a:solidFill>
              </a:defRPr>
            </a:pPr>
            <a:r>
              <a:t>  (-) Despesas Comerciais e Administrativas (SG&amp;A)  [Vendas, diretoria, controladoria, TI, RH corporativo]</a:t>
            </a:r>
          </a:p>
          <a:p>
            <a:pPr>
              <a:spcAft>
                <a:spcPts val="100"/>
              </a:spcAft>
              <a:defRPr sz="850" b="1">
                <a:solidFill>
                  <a:srgbClr val="10B981"/>
                </a:solidFill>
              </a:defRPr>
            </a:pPr>
            <a:r>
              <a:t>(=) EBITDA GERENCIAL  [Geração de Caixa Operacional Efetiva da Metalfisa]</a:t>
            </a:r>
          </a:p>
          <a:p>
            <a:pPr>
              <a:spcAft>
                <a:spcPts val="100"/>
              </a:spcAft>
              <a:defRPr sz="780" b="0">
                <a:solidFill>
                  <a:srgbClr val="64748B"/>
                </a:solidFill>
              </a:defRPr>
            </a:pPr>
            <a:r>
              <a:t>  (+/-) Resultado Financeiro &amp; Impostos Finais  [Juros bancários, receitas financeiras, IRPJ/CSLL]</a:t>
            </a:r>
          </a:p>
          <a:p>
            <a:pPr>
              <a:spcAft>
                <a:spcPts val="100"/>
              </a:spcAft>
              <a:defRPr sz="850" b="1">
                <a:solidFill>
                  <a:srgbClr val="1E3A8A"/>
                </a:solidFill>
              </a:defRPr>
            </a:pPr>
            <a:r>
              <a:t>(=) LUCRO LÍQUIDO FINAL  [Resultado líquido distribuível aos sócios / reinvestimento]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143000"/>
            <a:ext cx="429768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28016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0D9488"/>
                </a:solidFill>
              </a:defRPr>
            </a:pPr>
            <a:r>
              <a:t>VISÕES MULTIDIMENSIONAIS DA CONTROLADORIA</a:t>
            </a:r>
          </a:p>
          <a:p>
            <a:pPr>
              <a:defRPr sz="900" b="1">
                <a:solidFill>
                  <a:srgbClr val="FFFFFF"/>
                </a:solidFill>
              </a:defRPr>
            </a:pPr>
            <a:r>
              <a:t>1. DRE por Cliente (ex: Wabtec vs Outros):</a:t>
            </a:r>
          </a:p>
          <a:p>
            <a:pPr>
              <a:spcAft>
                <a:spcPts val="600"/>
              </a:spcAft>
              <a:defRPr sz="800">
                <a:solidFill>
                  <a:srgbClr val="CBD5E1"/>
                </a:solidFill>
              </a:defRPr>
            </a:pPr>
            <a:r>
              <a:t>Permite identificar se o contrato ferroviário está dando o retorno orçado ou se contratos menores estão subsidiando clientes grandes.</a:t>
            </a:r>
          </a:p>
          <a:p>
            <a:pPr>
              <a:defRPr sz="900" b="1">
                <a:solidFill>
                  <a:srgbClr val="FFFFFF"/>
                </a:solidFill>
              </a:defRPr>
            </a:pPr>
            <a:r>
              <a:t>2. DRE por Projeto / OS do SINCO:</a:t>
            </a:r>
          </a:p>
          <a:p>
            <a:pPr>
              <a:spcAft>
                <a:spcPts val="600"/>
              </a:spcAft>
              <a:defRPr sz="800">
                <a:solidFill>
                  <a:srgbClr val="CBD5E1"/>
                </a:solidFill>
              </a:defRPr>
            </a:pPr>
            <a:r>
              <a:t>Cada Ordem de Serviço possui sua DRE individual apurada, comparando a Margem Orçada com a Margem Efetiva realizada.</a:t>
            </a:r>
          </a:p>
          <a:p>
            <a:pPr>
              <a:defRPr sz="900" b="1">
                <a:solidFill>
                  <a:srgbClr val="FFFFFF"/>
                </a:solidFill>
              </a:defRPr>
            </a:pPr>
            <a:r>
              <a:t>3. DRE por Família de Produto:</a:t>
            </a:r>
          </a:p>
          <a:p>
            <a:pPr>
              <a:spcAft>
                <a:spcPts val="600"/>
              </a:spcAft>
              <a:defRPr sz="800">
                <a:solidFill>
                  <a:srgbClr val="CBD5E1"/>
                </a:solidFill>
              </a:defRPr>
            </a:pPr>
            <a:r>
              <a:t>Diferencia conjuntos soldados, peças usinadas seriadas e peças de caldeiraria pesada sob encomenda.</a:t>
            </a:r>
          </a:p>
          <a:p>
            <a:pPr>
              <a:defRPr sz="900" b="1">
                <a:solidFill>
                  <a:srgbClr val="FFFFFF"/>
                </a:solidFill>
              </a:defRPr>
            </a:pPr>
            <a:r>
              <a:t>4. Apuração de Ponto de Equilíbrio (Break-Even):</a:t>
            </a:r>
          </a:p>
          <a:p>
            <a:pPr>
              <a:spcAft>
                <a:spcPts val="600"/>
              </a:spcAft>
              <a:defRPr sz="800">
                <a:solidFill>
                  <a:srgbClr val="CBD5E1"/>
                </a:solidFill>
              </a:defRPr>
            </a:pPr>
            <a:r>
              <a:t>Determina o faturamento mínimo mensal necessário para cobrir todos os custos fixos da fábrica e despesas corporativas.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Pilar 6: Ritual do Fechamento Mensal (Cut-off Industrial D-0 a D+5)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9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06984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252728"/>
            <a:ext cx="1828800" cy="5486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D-0 (ÚLTIMO DIA)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21615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18h00: Corte oficial de apontamentos no SINCO. Chão de fábrica finaliza etapas ou suspende OPs em lote.</a:t>
            </a:r>
            <a:br/>
            <a:r>
              <a:t>20h00: Bloqueio de lançamentos retroativos de estoque no Protheus.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106984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" y="2121408"/>
            <a:ext cx="1828800" cy="548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D+1 (1º DIA ÚTIL)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8483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Inventário Físico Rotativo de chapas de aço, perfis e consumíveis críticos de almoxarifado.</a:t>
            </a:r>
            <a:br/>
            <a:r>
              <a:t>Conciliação de Compras: 100% das NFs de entrada do mês lançadas no Protheus (SD1/SF1).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6984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" y="2990088"/>
            <a:ext cx="182880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D+2 (2º DIA ÚTIL)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95351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Fechamento da Folha de Pagamento provisória pelo RH para cálculo real do custo homem-hora (MOD).</a:t>
            </a:r>
            <a:br/>
            <a:r>
              <a:t>Auditoria de OPs em Aberto (WIP): inspeção física de peças semi-prontas no chão de fábrica.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106984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3858767"/>
            <a:ext cx="182880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D+3 (3º DIA ÚTIL)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822191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Execução do Recálculo do Custo Médio no Protheus (MATA330).</a:t>
            </a:r>
            <a:br/>
            <a:r>
              <a:t>Absorção dos centros de custo indiretos (CIF) e geração dos saldos de fechamento de estoque (SB9010).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106984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680" y="4727448"/>
            <a:ext cx="1828800" cy="5486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D+4 (4º DIA ÚTIL)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69087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Conciliação Bancária e Financeira (SE1/SE2 vs Extratos).</a:t>
            </a:r>
            <a:br/>
            <a:r>
              <a:t>Lançamentos Contábeis de Provisões, Depreciação (SIGAATF) e conciliação: Fiscal x Contábil x Estoque.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8680" y="5596128"/>
            <a:ext cx="18288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D+5 (5º DIA ÚTIL)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55955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Publicação do Book Mensal da Controladoria desenvolvido pela Lynx EMS Sistemas:</a:t>
            </a:r>
            <a:br/>
            <a:r>
              <a:t>DRE Gerencial por Cliente, Relatório de Variações (Standard x Real) e Margens por Projeto.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Matriz Técnica de Dados: Mapeamento Tabela a Tabela (SINCO ↔ Protheus)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10 /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143000"/>
          <a:ext cx="73152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Processo / Entidade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Tabela SINCO (MySQL)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Tabela Protheus (PG)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Impacto na Controladoria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Produto &amp; Peças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material / CodMatFabricante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SB1010 (B1_COD)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Identificação contábil, NCM, tipo (PA/PI/MP)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Estrutura (BOM)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ordemservicoitem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SG1010 (G1_COD)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Lista técnica oficial para cálculo de Custo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Roteiros &amp; Postos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ordemservicoitem_processo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SG2010 / SH7010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Tempos padrão e centros de trabalho para taxas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Ordem de Fabricação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ordemservico (IdOrdemServico)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SC2010 (C2_NUM) / CTD010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Unidade acumuladora de custo de fabricação (WIP)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Requisição de Aço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Baixa física na 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SD3010 (Tipo RE0)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Débito em WIP e crédito no estoque de MP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Horas Apontadas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Processo Concluído no SINCO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SHB010 / SD3010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Débito em WIP e crédito na MOD Aplicada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Picture 8" descr="integracao_sistemas_1788967135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707" y="1110956"/>
            <a:ext cx="3383280" cy="1874905"/>
          </a:xfrm>
          <a:prstGeom prst="rect">
            <a:avLst/>
          </a:prstGeom>
        </p:spPr>
      </p:pic>
      <p:pic>
        <p:nvPicPr>
          <p:cNvPr id="11" name="Picture 9" descr="governanca_controladoria_1788967162821.jpg">
            <a:extLst>
              <a:ext uri="{FF2B5EF4-FFF2-40B4-BE49-F238E27FC236}">
                <a16:creationId xmlns:a16="http://schemas.microsoft.com/office/drawing/2014/main" id="{6ABB5DDC-2A18-53AA-216B-DB24A8182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707" y="3872139"/>
            <a:ext cx="3383280" cy="21675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Roadmap Estratégico de Implantação: 4 Fases em 5 Meses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11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256032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256032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325880"/>
            <a:ext cx="2286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0284C7"/>
                </a:solidFill>
              </a:defRPr>
            </a:pPr>
            <a:r>
              <a:t>FASE 1 (MÊS 1): FUNDAÇÃO &amp; GOVERNANÇA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Saneamento do De/Para: Código SINCO (CodMatFabricante) x Código Protheus (B1_COD)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Revisão e congelamento da Árvore de Centros de Custo (CTT010) com a diretoria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Criação do procedimento padrão: Toda OS do SINCO abre OP no Protheus (SC2010)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Instituição formal do Calendário de Fechamento Mensal (Cut-off D-0 a D+5)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143000"/>
            <a:ext cx="256032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143000"/>
            <a:ext cx="256032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325880"/>
            <a:ext cx="2286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1E3A8A"/>
                </a:solidFill>
              </a:defRPr>
            </a:pPr>
            <a:r>
              <a:t>FASE 2 (MÊS 2): CUSTO PADRÃO &amp; TAXAS HORÁRIAS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Levantamento histórico de despesas e salários para compor taxas homem e máquina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Parametrização das taxas horárias por posto de trabalho no Protheus (SH7010)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Exportação sistemática das árvores de produtos (BOM) do SINCO para SG1010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Homologação do Custo Standard dos 20 produtos de maior faturamento da Metalfisa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143000"/>
            <a:ext cx="256032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143000"/>
            <a:ext cx="256032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325880"/>
            <a:ext cx="2286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0D9488"/>
                </a:solidFill>
              </a:defRPr>
            </a:pPr>
            <a:r>
              <a:t>FASE 3 (MÊS 3): AUTOMAÇÃO DO CUSTO REAL &amp; WIP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Automação no App Lynx: ao finalizar processo no SINCO, gerar apontamento no Protheus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Baixas de estoque de matéria-prima (aço) amarradas aos lotes de fabricação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Rotina semanal de auditoria de OPs em Aberto para eliminar 'OPs zumbis'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Primeiro fechamento mensal com conciliação completa da conta de WIP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143000"/>
            <a:ext cx="256032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23960" y="1143000"/>
            <a:ext cx="25603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1325880"/>
            <a:ext cx="2286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10B981"/>
                </a:solidFill>
              </a:defRPr>
            </a:pPr>
            <a:r>
              <a:t>FASE 4 (MESES 4 E 5): ORÇAMENTO, DRE &amp; DASHBOARDS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Parametrização do Orçamento Anual (Budget) no Protheus (SIGACTL / CTG)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Desenvolvimento do Painel de Margem de Contribuição por Projeto e Cliente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Alertas em tempo real via Hermes (WhatsApp/E-mail) de estouro de horas na fábrica</a:t>
            </a:r>
          </a:p>
          <a:p>
            <a:pPr>
              <a:spcAft>
                <a:spcPts val="500"/>
              </a:spcAft>
              <a:defRPr sz="819">
                <a:solidFill>
                  <a:srgbClr val="0F172A"/>
                </a:solidFill>
              </a:defRPr>
            </a:pPr>
            <a:r>
              <a:t>• Ritual executivo mensal de apresentação do Book de Controladoria aos acionistas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Governança Corporativa, Indicadores Chave (KPIs) e Book Mensal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12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083564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284C7"/>
                </a:solidFill>
              </a:defRPr>
            </a:pPr>
            <a:r>
              <a:rPr dirty="0"/>
              <a:t>INDICADORES CHAVE DA CONTROLADORIA (KPIS)</a:t>
            </a:r>
          </a:p>
          <a:p>
            <a:pPr>
              <a:defRPr sz="900" b="1">
                <a:solidFill>
                  <a:srgbClr val="1E3A8A"/>
                </a:solidFill>
              </a:defRPr>
            </a:pPr>
            <a:r>
              <a:rPr dirty="0" err="1"/>
              <a:t>Margem</a:t>
            </a:r>
            <a:r>
              <a:rPr dirty="0"/>
              <a:t> de </a:t>
            </a:r>
            <a:r>
              <a:rPr dirty="0" err="1"/>
              <a:t>Contribuição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Projeto</a:t>
            </a:r>
            <a:r>
              <a:rPr dirty="0"/>
              <a:t> (%):</a:t>
            </a:r>
          </a:p>
          <a:p>
            <a:pPr>
              <a:spcAft>
                <a:spcPts val="400"/>
              </a:spcAft>
              <a:defRPr sz="819">
                <a:solidFill>
                  <a:srgbClr val="64748B"/>
                </a:solidFill>
              </a:defRPr>
            </a:pPr>
            <a:r>
              <a:rPr dirty="0" err="1"/>
              <a:t>Avaliação</a:t>
            </a:r>
            <a:r>
              <a:rPr dirty="0"/>
              <a:t> individual da </a:t>
            </a:r>
            <a:r>
              <a:rPr dirty="0" err="1"/>
              <a:t>lucratividade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contrato</a:t>
            </a:r>
            <a:r>
              <a:rPr dirty="0"/>
              <a:t>/OS </a:t>
            </a:r>
            <a:r>
              <a:rPr dirty="0" err="1"/>
              <a:t>faturada</a:t>
            </a:r>
            <a:r>
              <a:rPr dirty="0"/>
              <a:t> no </a:t>
            </a:r>
            <a:r>
              <a:rPr dirty="0" err="1"/>
              <a:t>mês</a:t>
            </a:r>
            <a:r>
              <a:rPr dirty="0"/>
              <a:t>.</a:t>
            </a:r>
          </a:p>
          <a:p>
            <a:pPr>
              <a:defRPr sz="900" b="1">
                <a:solidFill>
                  <a:srgbClr val="1E3A8A"/>
                </a:solidFill>
              </a:defRPr>
            </a:pPr>
            <a:r>
              <a:rPr dirty="0" err="1"/>
              <a:t>Desvio</a:t>
            </a:r>
            <a:r>
              <a:rPr dirty="0"/>
              <a:t> de </a:t>
            </a:r>
            <a:r>
              <a:rPr dirty="0" err="1"/>
              <a:t>Custo</a:t>
            </a:r>
            <a:r>
              <a:rPr dirty="0"/>
              <a:t> Standard x Real (%):</a:t>
            </a:r>
          </a:p>
          <a:p>
            <a:pPr>
              <a:spcAft>
                <a:spcPts val="400"/>
              </a:spcAft>
              <a:defRPr sz="819">
                <a:solidFill>
                  <a:srgbClr val="64748B"/>
                </a:solidFill>
              </a:defRPr>
            </a:pPr>
            <a:r>
              <a:rPr dirty="0"/>
              <a:t>Percentual de </a:t>
            </a:r>
            <a:r>
              <a:rPr dirty="0" err="1"/>
              <a:t>variação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ordem</a:t>
            </a:r>
            <a:r>
              <a:rPr dirty="0"/>
              <a:t> de </a:t>
            </a:r>
            <a:r>
              <a:rPr dirty="0" err="1"/>
              <a:t>produção</a:t>
            </a:r>
            <a:r>
              <a:rPr dirty="0"/>
              <a:t>, </a:t>
            </a:r>
            <a:r>
              <a:rPr dirty="0" err="1"/>
              <a:t>apontando</a:t>
            </a:r>
            <a:r>
              <a:rPr dirty="0"/>
              <a:t> </a:t>
            </a:r>
            <a:r>
              <a:rPr dirty="0" err="1"/>
              <a:t>perdas</a:t>
            </a:r>
            <a:r>
              <a:rPr dirty="0"/>
              <a:t> de material </a:t>
            </a:r>
            <a:r>
              <a:rPr dirty="0" err="1"/>
              <a:t>ou</a:t>
            </a:r>
            <a:r>
              <a:rPr dirty="0"/>
              <a:t> MOD.</a:t>
            </a:r>
          </a:p>
          <a:p>
            <a:pPr>
              <a:defRPr sz="900" b="1">
                <a:solidFill>
                  <a:srgbClr val="1E3A8A"/>
                </a:solidFill>
              </a:defRPr>
            </a:pPr>
            <a:r>
              <a:rPr dirty="0"/>
              <a:t>OEE </a:t>
            </a:r>
            <a:r>
              <a:rPr dirty="0" err="1"/>
              <a:t>Fabril</a:t>
            </a:r>
            <a:r>
              <a:rPr dirty="0"/>
              <a:t> e Horas </a:t>
            </a:r>
            <a:r>
              <a:rPr dirty="0" err="1"/>
              <a:t>Produtivas</a:t>
            </a:r>
            <a:r>
              <a:rPr dirty="0"/>
              <a:t> x Ociosas:</a:t>
            </a:r>
          </a:p>
          <a:p>
            <a:pPr>
              <a:spcAft>
                <a:spcPts val="400"/>
              </a:spcAft>
              <a:defRPr sz="819">
                <a:solidFill>
                  <a:srgbClr val="64748B"/>
                </a:solidFill>
              </a:defRPr>
            </a:pPr>
            <a:r>
              <a:rPr dirty="0" err="1"/>
              <a:t>Disponibilidade</a:t>
            </a:r>
            <a:r>
              <a:rPr dirty="0"/>
              <a:t>, performance e </a:t>
            </a:r>
            <a:r>
              <a:rPr dirty="0" err="1"/>
              <a:t>qualidade</a:t>
            </a:r>
            <a:r>
              <a:rPr dirty="0"/>
              <a:t> das </a:t>
            </a:r>
            <a:r>
              <a:rPr dirty="0" err="1"/>
              <a:t>máquinas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(Laser, Dobra, Solda).</a:t>
            </a:r>
          </a:p>
          <a:p>
            <a:pPr>
              <a:defRPr sz="900" b="1">
                <a:solidFill>
                  <a:srgbClr val="1E3A8A"/>
                </a:solidFill>
              </a:defRPr>
            </a:pPr>
            <a:r>
              <a:rPr dirty="0"/>
              <a:t>Giro e Volume de Estoque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Processo</a:t>
            </a:r>
            <a:r>
              <a:rPr dirty="0"/>
              <a:t> (WIP):</a:t>
            </a:r>
          </a:p>
          <a:p>
            <a:pPr>
              <a:spcAft>
                <a:spcPts val="400"/>
              </a:spcAft>
              <a:defRPr sz="819">
                <a:solidFill>
                  <a:srgbClr val="64748B"/>
                </a:solidFill>
              </a:defRPr>
            </a:pPr>
            <a:r>
              <a:rPr dirty="0"/>
              <a:t>Montante </a:t>
            </a:r>
            <a:r>
              <a:rPr dirty="0" err="1"/>
              <a:t>financeiro</a:t>
            </a:r>
            <a:r>
              <a:rPr dirty="0"/>
              <a:t> de capital de </a:t>
            </a:r>
            <a:r>
              <a:rPr dirty="0" err="1"/>
              <a:t>giro</a:t>
            </a:r>
            <a:r>
              <a:rPr dirty="0"/>
              <a:t> </a:t>
            </a:r>
            <a:r>
              <a:rPr dirty="0" err="1"/>
              <a:t>imobilizado</a:t>
            </a:r>
            <a:r>
              <a:rPr dirty="0"/>
              <a:t> </a:t>
            </a:r>
            <a:r>
              <a:rPr dirty="0" err="1"/>
              <a:t>parado</a:t>
            </a:r>
            <a:r>
              <a:rPr dirty="0"/>
              <a:t> no </a:t>
            </a:r>
            <a:r>
              <a:rPr dirty="0" err="1"/>
              <a:t>chão</a:t>
            </a:r>
            <a:r>
              <a:rPr dirty="0"/>
              <a:t> de </a:t>
            </a:r>
            <a:r>
              <a:rPr dirty="0" err="1"/>
              <a:t>fábrica</a:t>
            </a:r>
            <a:r>
              <a:rPr dirty="0"/>
              <a:t>.</a:t>
            </a:r>
          </a:p>
          <a:p>
            <a:pPr>
              <a:defRPr sz="900" b="1">
                <a:solidFill>
                  <a:srgbClr val="1E3A8A"/>
                </a:solidFill>
              </a:defRPr>
            </a:pPr>
            <a:r>
              <a:rPr dirty="0" err="1"/>
              <a:t>Prazo</a:t>
            </a:r>
            <a:r>
              <a:rPr dirty="0"/>
              <a:t> </a:t>
            </a:r>
            <a:r>
              <a:rPr dirty="0" err="1"/>
              <a:t>Médio</a:t>
            </a:r>
            <a:r>
              <a:rPr dirty="0"/>
              <a:t> de </a:t>
            </a:r>
            <a:r>
              <a:rPr dirty="0" err="1"/>
              <a:t>Fechamento</a:t>
            </a:r>
            <a:r>
              <a:rPr dirty="0"/>
              <a:t> </a:t>
            </a:r>
            <a:r>
              <a:rPr dirty="0" err="1"/>
              <a:t>Contábil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819">
                <a:solidFill>
                  <a:srgbClr val="64748B"/>
                </a:solidFill>
              </a:defRPr>
            </a:pPr>
            <a:r>
              <a:rPr dirty="0"/>
              <a:t>Meta </a:t>
            </a:r>
            <a:r>
              <a:rPr dirty="0" err="1"/>
              <a:t>executiva</a:t>
            </a:r>
            <a:r>
              <a:rPr dirty="0"/>
              <a:t>: </a:t>
            </a:r>
            <a:r>
              <a:rPr dirty="0" err="1"/>
              <a:t>publicação</a:t>
            </a:r>
            <a:r>
              <a:rPr dirty="0"/>
              <a:t> de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relatórios</a:t>
            </a:r>
            <a:r>
              <a:rPr dirty="0"/>
              <a:t> da </a:t>
            </a:r>
            <a:r>
              <a:rPr dirty="0" err="1"/>
              <a:t>Controladoria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D+5.</a:t>
            </a:r>
          </a:p>
          <a:p>
            <a:pPr>
              <a:defRPr sz="900" b="1">
                <a:solidFill>
                  <a:srgbClr val="1E3A8A"/>
                </a:solidFill>
              </a:defRPr>
            </a:pPr>
            <a:r>
              <a:rPr dirty="0" err="1"/>
              <a:t>Índice</a:t>
            </a:r>
            <a:r>
              <a:rPr dirty="0"/>
              <a:t> de </a:t>
            </a:r>
            <a:r>
              <a:rPr dirty="0" err="1"/>
              <a:t>Acuracidade</a:t>
            </a:r>
            <a:r>
              <a:rPr dirty="0"/>
              <a:t> de </a:t>
            </a:r>
            <a:r>
              <a:rPr dirty="0" err="1"/>
              <a:t>Inventário</a:t>
            </a:r>
            <a:r>
              <a:rPr dirty="0"/>
              <a:t> (%):</a:t>
            </a:r>
          </a:p>
          <a:p>
            <a:pPr>
              <a:spcAft>
                <a:spcPts val="400"/>
              </a:spcAft>
              <a:defRPr sz="819">
                <a:solidFill>
                  <a:srgbClr val="64748B"/>
                </a:solidFill>
              </a:defRPr>
            </a:pPr>
            <a:r>
              <a:rPr dirty="0" err="1"/>
              <a:t>Convergência</a:t>
            </a:r>
            <a:r>
              <a:rPr dirty="0"/>
              <a:t> entre </a:t>
            </a:r>
            <a:r>
              <a:rPr dirty="0" err="1"/>
              <a:t>saldo</a:t>
            </a:r>
            <a:r>
              <a:rPr dirty="0"/>
              <a:t> </a:t>
            </a:r>
            <a:r>
              <a:rPr dirty="0" err="1"/>
              <a:t>físico</a:t>
            </a:r>
            <a:r>
              <a:rPr dirty="0"/>
              <a:t> de </a:t>
            </a:r>
            <a:r>
              <a:rPr dirty="0" err="1"/>
              <a:t>aço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fábrica</a:t>
            </a:r>
            <a:r>
              <a:rPr dirty="0"/>
              <a:t> e </a:t>
            </a:r>
            <a:r>
              <a:rPr dirty="0" err="1"/>
              <a:t>saldo</a:t>
            </a:r>
            <a:r>
              <a:rPr dirty="0"/>
              <a:t> </a:t>
            </a:r>
            <a:r>
              <a:rPr dirty="0" err="1"/>
              <a:t>contábil</a:t>
            </a:r>
            <a:r>
              <a:rPr dirty="0"/>
              <a:t> no </a:t>
            </a:r>
            <a:r>
              <a:rPr dirty="0" err="1"/>
              <a:t>Protheus</a:t>
            </a:r>
            <a:r>
              <a:rPr dirty="0"/>
              <a:t> (SB2/SB9).</a:t>
            </a:r>
          </a:p>
        </p:txBody>
      </p:sp>
      <p:pic>
        <p:nvPicPr>
          <p:cNvPr id="10" name="Picture 9" descr="governanca_controladoria_17889671628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570" y="2961673"/>
            <a:ext cx="4297680" cy="27533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CONTROLADORIA INDUSTRIAL METALFISA  •  PLANO ESTRATÉGICO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Decisões Estratégicas para Deliberação com a Diretoria Executiva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01168"/>
            <a:ext cx="2743200" cy="502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650" b="1">
                <a:solidFill>
                  <a:srgbClr val="64748B"/>
                </a:solidFill>
              </a:defRPr>
            </a:pPr>
            <a:r>
              <a:t>EMPRESA DESENVOLVEDORA: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LYNX EMS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Plano Desenvolvido por: Lynx EMS Sistemas  |  Controladoria Industrial &amp; Integração SINCO ↔ Protheus TOTVS  |  Metalfisa Industrial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t>13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069848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91440" cy="1508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252728"/>
            <a:ext cx="1024128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</a:defRPr>
            </a:pPr>
            <a:r>
              <a:t>DECISÃO 1: CRITÉRIO DE ABERTURA DE OP NO PROTHEUS</a:t>
            </a:r>
          </a:p>
          <a:p>
            <a:pPr>
              <a:spcAft>
                <a:spcPts val="300"/>
              </a:spcAft>
              <a:defRPr sz="900" b="1">
                <a:solidFill>
                  <a:srgbClr val="0F172A"/>
                </a:solidFill>
              </a:defRPr>
            </a:pPr>
            <a:r>
              <a:t>Nível de detalhamento contábil no ERP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• Opção A: Abrir OP no Protheus apenas para o conjunto final da OS, delegando ao SINCO o controle de subconjuntos.</a:t>
            </a:r>
            <a:br/>
            <a:r>
              <a:t>• Opção B (Recomendada pela Lynx EMS): Abrir OPs filhas no Protheus para subconjuntos críticos com controle de estoque intermediário.</a:t>
            </a:r>
            <a:br/>
            <a:r>
              <a:t>Impacto: A Opção B permite rastrear exatamente qual etapa/subconjunto gerou prejuízo ou estouro de custo.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069848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91440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1024128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D9488"/>
                </a:solidFill>
              </a:defRPr>
            </a:pPr>
            <a:r>
              <a:t>DECISÃO 2: MODELO DE APONTAMENTO NO CHÃO DE FÁBRICA</a:t>
            </a:r>
          </a:p>
          <a:p>
            <a:pPr>
              <a:spcAft>
                <a:spcPts val="300"/>
              </a:spcAft>
              <a:defRPr sz="900" b="1">
                <a:solidFill>
                  <a:srgbClr val="0F172A"/>
                </a:solidFill>
              </a:defRPr>
            </a:pPr>
            <a:r>
              <a:t>Como as horas chegam à Controladoria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• Opção A: Operadores apontam em tempo real nos terminais/código de barras por etapa do SINCO.</a:t>
            </a:r>
            <a:br/>
            <a:r>
              <a:t>• Opção B: Líderes de setor/apontadores consolidam fichas físicas e lançam em lote ao final de cada turno.</a:t>
            </a:r>
            <a:br/>
            <a:r>
              <a:t>Impacto: A Opção A elimina retroatividade e permite alertas de desvio de custo em tempo real no mesmo dia.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69848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434840"/>
            <a:ext cx="91440" cy="1508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544568"/>
            <a:ext cx="1024128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</a:defRPr>
            </a:pPr>
            <a:r>
              <a:t>DECISÃO 3: REGIME TRIBUTÁRIO &amp; CRÉDITOS NO CPV GERENCIAL</a:t>
            </a:r>
          </a:p>
          <a:p>
            <a:pPr>
              <a:spcAft>
                <a:spcPts val="300"/>
              </a:spcAft>
              <a:defRPr sz="900" b="1">
                <a:solidFill>
                  <a:srgbClr val="0F172A"/>
                </a:solidFill>
              </a:defRPr>
            </a:pPr>
            <a:r>
              <a:t>Tratamento de créditos fiscais na formação de margem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• Lucro Real: Créditos de PIS/COFINS (9,25%) e ICMS sobre matérias-primas e energia elétrica fabril devem ser expurgados do custo de aquisição para formar o CPV Líquido.</a:t>
            </a:r>
            <a:br/>
            <a:r>
              <a:t>• Impacto: Se a empresa não expurgar créditos, o custo gerencial fica artificialmente inflado, distorcendo a formação de preços.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94484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METALFISA INDUSTRIAL</a:t>
            </a:r>
          </a:p>
          <a:p>
            <a:pPr algn="ctr">
              <a:spcAft>
                <a:spcPts val="2000"/>
              </a:spcAft>
              <a:defRPr sz="2100" b="1">
                <a:solidFill>
                  <a:srgbClr val="FFFFFF"/>
                </a:solidFill>
              </a:defRPr>
            </a:pPr>
            <a:r>
              <a:t>Transformando o Esforço do Chão de Fábrica em Previsibilidade de Lucro e Governança Financeira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Próximos Passos de Implantação:</a:t>
            </a:r>
          </a:p>
          <a:p>
            <a:pPr algn="ctr">
              <a:spcAft>
                <a:spcPts val="3000"/>
              </a:spcAft>
              <a:defRPr sz="1050">
                <a:solidFill>
                  <a:srgbClr val="CBD5E1"/>
                </a:solidFill>
              </a:defRPr>
            </a:pPr>
            <a:r>
              <a:t>1. Aprovação Executiva do Masterplan de Controladoria com a Diretoria e Acionistas</a:t>
            </a:r>
            <a:br/>
            <a:r>
              <a:t>2. Alinhamento das 3 Decisões Estratégicas (Estrutura de OP, Apontamento Digital e Créditos Fiscais)</a:t>
            </a:r>
            <a:br/>
            <a:r>
              <a:t>3. Disparo imediato da Fase 1: Saneamento cadastral SINCO x Protheus e congelamento de Centros de Custo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754880"/>
            <a:ext cx="670529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800" b="1">
                <a:solidFill>
                  <a:srgbClr val="0D9488"/>
                </a:solidFill>
              </a:defRPr>
            </a:pPr>
            <a:r>
              <a:t>EMPRESA DESENVOLVEDORA DO PLANO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LYNX EMS SISTEMAS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Consultoria &amp; Engenharia de Sistemas Industriais | Parceiro Tecnológico Metalfisa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Documento Estratégico e Confidencial  |  Metalfisa Industrial  |  Desenvolvido por Lynx EMS Sistemas  |  Versão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3622</Words>
  <Application>Microsoft Office PowerPoint</Application>
  <PresentationFormat>Widescreen</PresentationFormat>
  <Paragraphs>290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metalfisa01</cp:lastModifiedBy>
  <cp:revision>2</cp:revision>
  <dcterms:created xsi:type="dcterms:W3CDTF">2013-01-27T09:14:16Z</dcterms:created>
  <dcterms:modified xsi:type="dcterms:W3CDTF">2026-09-09T15:44:22Z</dcterms:modified>
  <cp:category/>
</cp:coreProperties>
</file>